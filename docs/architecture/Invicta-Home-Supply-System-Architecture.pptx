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52A"/>
        </a:solidFill>
      </p:bgPr>
    </p:bg>
    <p:spTree>
      <p:nvGrpSpPr>
        <p:cNvPr id="1" name=""/>
        <p:cNvGrpSpPr/>
        <p:nvPr/>
      </p:nvGrpSpPr>
      <p:grpSpPr>
        <a:xfrm>
          <a:off x="0" y="0"/>
          <a:ext cx="0" cy="0"/>
          <a:chOff x="0" y="0"/>
          <a:chExt cx="0" cy="0"/>
        </a:xfrm>
      </p:grpSpPr>
      <p:pic>
        <p:nvPicPr>
          <p:cNvPr id="2" name="Image 0" descr="/home/user/Invictahomesupply/assets/brand/invicta-logo-blue.png">    </p:cNvPr>
          <p:cNvPicPr>
            <a:picLocks noChangeAspect="1"/>
          </p:cNvPicPr>
          <p:nvPr/>
        </p:nvPicPr>
        <p:blipFill>
          <a:blip r:embed="rId1"/>
          <a:srcRect l="0" r="0" t="0" b="0"/>
          <a:stretch/>
        </p:blipFill>
        <p:spPr>
          <a:xfrm>
            <a:off x="822960" y="685800"/>
            <a:ext cx="1371600" cy="1371600"/>
          </a:xfrm>
          <a:prstGeom prst="rect">
            <a:avLst/>
          </a:prstGeom>
        </p:spPr>
      </p:pic>
      <p:sp>
        <p:nvSpPr>
          <p:cNvPr id="3" name="Text 0"/>
          <p:cNvSpPr txBox="1"/>
          <p:nvPr/>
        </p:nvSpPr>
        <p:spPr>
          <a:xfrm>
            <a:off x="822960" y="2331720"/>
            <a:ext cx="10515600" cy="457200"/>
          </a:xfrm>
          <a:prstGeom prst="rect">
            <a:avLst/>
          </a:prstGeom>
          <a:noFill/>
          <a:ln/>
        </p:spPr>
        <p:txBody>
          <a:bodyPr wrap="square" lIns="0" tIns="0" rIns="0" bIns="0" rtlCol="0" anchor="ctr"/>
          <a:lstStyle/>
          <a:p>
            <a:pPr indent="0" marL="0">
              <a:buNone/>
            </a:pPr>
            <a:r>
              <a:rPr lang="en-US" sz="1600" b="1" spc="300" kern="0" dirty="0">
                <a:solidFill>
                  <a:srgbClr val="D9A441"/>
                </a:solidFill>
                <a:latin typeface="Calibri" pitchFamily="34" charset="0"/>
                <a:ea typeface="Calibri" pitchFamily="34" charset="-122"/>
                <a:cs typeface="Calibri" pitchFamily="34" charset="-120"/>
              </a:rPr>
              <a:t>INVICTA HOME SUPPLY</a:t>
            </a:r>
            <a:endParaRPr lang="en-US" sz="1600" dirty="0"/>
          </a:p>
        </p:txBody>
      </p:sp>
      <p:sp>
        <p:nvSpPr>
          <p:cNvPr id="4" name="Text 1"/>
          <p:cNvSpPr txBox="1"/>
          <p:nvPr/>
        </p:nvSpPr>
        <p:spPr>
          <a:xfrm>
            <a:off x="822960" y="278892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Inventory → Catalog → Website</a:t>
            </a:r>
            <a:endParaRPr lang="en-US" sz="4200" dirty="0"/>
          </a:p>
        </p:txBody>
      </p:sp>
      <p:sp>
        <p:nvSpPr>
          <p:cNvPr id="5" name="Text 2"/>
          <p:cNvSpPr txBox="1"/>
          <p:nvPr/>
        </p:nvSpPr>
        <p:spPr>
          <a:xfrm>
            <a:off x="822960" y="3611880"/>
            <a:ext cx="10515600" cy="640080"/>
          </a:xfrm>
          <a:prstGeom prst="rect">
            <a:avLst/>
          </a:prstGeom>
          <a:noFill/>
          <a:ln/>
        </p:spPr>
        <p:txBody>
          <a:bodyPr wrap="square" lIns="0" tIns="0" rIns="0" bIns="0" rtlCol="0" anchor="ctr"/>
          <a:lstStyle/>
          <a:p>
            <a:pPr indent="0" marL="0">
              <a:buNone/>
            </a:pPr>
            <a:r>
              <a:rPr lang="en-US" sz="2400" i="1" dirty="0">
                <a:solidFill>
                  <a:srgbClr val="E2E8DA"/>
                </a:solidFill>
                <a:latin typeface="Cambria" pitchFamily="34" charset="0"/>
                <a:ea typeface="Cambria" pitchFamily="34" charset="-122"/>
                <a:cs typeface="Cambria" pitchFamily="34" charset="-120"/>
              </a:rPr>
              <a:t>End-to-End System Architecture</a:t>
            </a:r>
            <a:endParaRPr lang="en-US" sz="2400" dirty="0"/>
          </a:p>
        </p:txBody>
      </p:sp>
      <p:sp>
        <p:nvSpPr>
          <p:cNvPr id="6" name="Shape 3"/>
          <p:cNvSpPr/>
          <p:nvPr/>
        </p:nvSpPr>
        <p:spPr>
          <a:xfrm>
            <a:off x="822960" y="4663440"/>
            <a:ext cx="1600200" cy="685800"/>
          </a:xfrm>
          <a:prstGeom prst="roundRect">
            <a:avLst>
              <a:gd name="adj" fmla="val 10667"/>
            </a:avLst>
          </a:prstGeom>
          <a:solidFill>
            <a:srgbClr val="24352A"/>
          </a:solidFill>
          <a:ln/>
          <a:effectLst>
            <a:outerShdw sx="100000" sy="100000" kx="0" ky="0" algn="bl" rotWithShape="0" blurRad="76200" dist="25400" dir="5400000">
              <a:srgbClr val="1B241B">
                <a:alpha val="18000"/>
              </a:srgbClr>
            </a:outerShdw>
          </a:effectLst>
        </p:spPr>
      </p:sp>
      <p:sp>
        <p:nvSpPr>
          <p:cNvPr id="7" name="Text 4"/>
          <p:cNvSpPr txBox="1"/>
          <p:nvPr/>
        </p:nvSpPr>
        <p:spPr>
          <a:xfrm>
            <a:off x="87782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Sheets</a:t>
            </a:r>
            <a:endParaRPr lang="en-US" sz="1150" dirty="0"/>
          </a:p>
        </p:txBody>
      </p:sp>
      <p:sp>
        <p:nvSpPr>
          <p:cNvPr id="8" name="Shape 5"/>
          <p:cNvSpPr/>
          <p:nvPr/>
        </p:nvSpPr>
        <p:spPr>
          <a:xfrm>
            <a:off x="2423160" y="4924044"/>
            <a:ext cx="137160" cy="164592"/>
          </a:xfrm>
          <a:prstGeom prst="rightArrow">
            <a:avLst/>
          </a:prstGeom>
          <a:solidFill>
            <a:srgbClr val="667061"/>
          </a:solidFill>
          <a:ln/>
        </p:spPr>
      </p:sp>
      <p:sp>
        <p:nvSpPr>
          <p:cNvPr id="9" name="Shape 6"/>
          <p:cNvSpPr/>
          <p:nvPr/>
        </p:nvSpPr>
        <p:spPr>
          <a:xfrm>
            <a:off x="2560320" y="4663440"/>
            <a:ext cx="1600200" cy="685800"/>
          </a:xfrm>
          <a:prstGeom prst="roundRect">
            <a:avLst>
              <a:gd name="adj" fmla="val 10667"/>
            </a:avLst>
          </a:prstGeom>
          <a:solidFill>
            <a:srgbClr val="D9A441"/>
          </a:solidFill>
          <a:ln/>
          <a:effectLst>
            <a:outerShdw sx="100000" sy="100000" kx="0" ky="0" algn="bl" rotWithShape="0" blurRad="76200" dist="25400" dir="5400000">
              <a:srgbClr val="1B241B">
                <a:alpha val="18000"/>
              </a:srgbClr>
            </a:outerShdw>
          </a:effectLst>
        </p:spPr>
      </p:sp>
      <p:sp>
        <p:nvSpPr>
          <p:cNvPr id="10" name="Text 7"/>
          <p:cNvSpPr txBox="1"/>
          <p:nvPr/>
        </p:nvSpPr>
        <p:spPr>
          <a:xfrm>
            <a:off x="261518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Script</a:t>
            </a:r>
            <a:endParaRPr lang="en-US" sz="1150" dirty="0"/>
          </a:p>
        </p:txBody>
      </p:sp>
      <p:sp>
        <p:nvSpPr>
          <p:cNvPr id="11" name="Shape 8"/>
          <p:cNvSpPr/>
          <p:nvPr/>
        </p:nvSpPr>
        <p:spPr>
          <a:xfrm>
            <a:off x="4160520" y="4924044"/>
            <a:ext cx="137160" cy="164592"/>
          </a:xfrm>
          <a:prstGeom prst="rightArrow">
            <a:avLst/>
          </a:prstGeom>
          <a:solidFill>
            <a:srgbClr val="667061"/>
          </a:solidFill>
          <a:ln/>
        </p:spPr>
      </p:sp>
      <p:sp>
        <p:nvSpPr>
          <p:cNvPr id="12" name="Shape 9"/>
          <p:cNvSpPr/>
          <p:nvPr/>
        </p:nvSpPr>
        <p:spPr>
          <a:xfrm>
            <a:off x="4297680" y="4663440"/>
            <a:ext cx="1600200" cy="685800"/>
          </a:xfrm>
          <a:prstGeom prst="roundRect">
            <a:avLst>
              <a:gd name="adj" fmla="val 10667"/>
            </a:avLst>
          </a:prstGeom>
          <a:solidFill>
            <a:srgbClr val="C14A26"/>
          </a:solidFill>
          <a:ln/>
          <a:effectLst>
            <a:outerShdw sx="100000" sy="100000" kx="0" ky="0" algn="bl" rotWithShape="0" blurRad="76200" dist="25400" dir="5400000">
              <a:srgbClr val="1B241B">
                <a:alpha val="18000"/>
              </a:srgbClr>
            </a:outerShdw>
          </a:effectLst>
        </p:spPr>
      </p:sp>
      <p:sp>
        <p:nvSpPr>
          <p:cNvPr id="13" name="Text 10"/>
          <p:cNvSpPr txBox="1"/>
          <p:nvPr/>
        </p:nvSpPr>
        <p:spPr>
          <a:xfrm>
            <a:off x="435254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Airtable</a:t>
            </a:r>
            <a:endParaRPr lang="en-US" sz="1150" dirty="0"/>
          </a:p>
        </p:txBody>
      </p:sp>
      <p:sp>
        <p:nvSpPr>
          <p:cNvPr id="14" name="Shape 11"/>
          <p:cNvSpPr/>
          <p:nvPr/>
        </p:nvSpPr>
        <p:spPr>
          <a:xfrm>
            <a:off x="5897880" y="4924044"/>
            <a:ext cx="137160" cy="164592"/>
          </a:xfrm>
          <a:prstGeom prst="rightArrow">
            <a:avLst/>
          </a:prstGeom>
          <a:solidFill>
            <a:srgbClr val="667061"/>
          </a:solidFill>
          <a:ln/>
        </p:spPr>
      </p:sp>
      <p:sp>
        <p:nvSpPr>
          <p:cNvPr id="15" name="Shape 12"/>
          <p:cNvSpPr/>
          <p:nvPr/>
        </p:nvSpPr>
        <p:spPr>
          <a:xfrm>
            <a:off x="6035040" y="4663440"/>
            <a:ext cx="1600200" cy="685800"/>
          </a:xfrm>
          <a:prstGeom prst="roundRect">
            <a:avLst>
              <a:gd name="adj" fmla="val 10667"/>
            </a:avLst>
          </a:prstGeom>
          <a:solidFill>
            <a:srgbClr val="2C5670"/>
          </a:solidFill>
          <a:ln/>
          <a:effectLst>
            <a:outerShdw sx="100000" sy="100000" kx="0" ky="0" algn="bl" rotWithShape="0" blurRad="76200" dist="25400" dir="5400000">
              <a:srgbClr val="1B241B">
                <a:alpha val="18000"/>
              </a:srgbClr>
            </a:outerShdw>
          </a:effectLst>
        </p:spPr>
      </p:sp>
      <p:sp>
        <p:nvSpPr>
          <p:cNvPr id="16" name="Text 13"/>
          <p:cNvSpPr txBox="1"/>
          <p:nvPr/>
        </p:nvSpPr>
        <p:spPr>
          <a:xfrm>
            <a:off x="608990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Netlify</a:t>
            </a:r>
            <a:endParaRPr lang="en-US" sz="1150" dirty="0"/>
          </a:p>
        </p:txBody>
      </p:sp>
      <p:sp>
        <p:nvSpPr>
          <p:cNvPr id="17" name="Shape 14"/>
          <p:cNvSpPr/>
          <p:nvPr/>
        </p:nvSpPr>
        <p:spPr>
          <a:xfrm>
            <a:off x="7635240" y="4924044"/>
            <a:ext cx="137160" cy="164592"/>
          </a:xfrm>
          <a:prstGeom prst="rightArrow">
            <a:avLst/>
          </a:prstGeom>
          <a:solidFill>
            <a:srgbClr val="667061"/>
          </a:solidFill>
          <a:ln/>
        </p:spPr>
      </p:sp>
      <p:sp>
        <p:nvSpPr>
          <p:cNvPr id="18" name="Shape 15"/>
          <p:cNvSpPr/>
          <p:nvPr/>
        </p:nvSpPr>
        <p:spPr>
          <a:xfrm>
            <a:off x="7772400" y="4663440"/>
            <a:ext cx="1600200" cy="685800"/>
          </a:xfrm>
          <a:prstGeom prst="roundRect">
            <a:avLst>
              <a:gd name="adj" fmla="val 10667"/>
            </a:avLst>
          </a:prstGeom>
          <a:solidFill>
            <a:srgbClr val="34493A"/>
          </a:solidFill>
          <a:ln/>
          <a:effectLst>
            <a:outerShdw sx="100000" sy="100000" kx="0" ky="0" algn="bl" rotWithShape="0" blurRad="76200" dist="25400" dir="5400000">
              <a:srgbClr val="1B241B">
                <a:alpha val="18000"/>
              </a:srgbClr>
            </a:outerShdw>
          </a:effectLst>
        </p:spPr>
      </p:sp>
      <p:sp>
        <p:nvSpPr>
          <p:cNvPr id="19" name="Text 16"/>
          <p:cNvSpPr txBox="1"/>
          <p:nvPr/>
        </p:nvSpPr>
        <p:spPr>
          <a:xfrm>
            <a:off x="782726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Website</a:t>
            </a:r>
            <a:endParaRPr lang="en-US" sz="1150" dirty="0"/>
          </a:p>
        </p:txBody>
      </p:sp>
      <p:sp>
        <p:nvSpPr>
          <p:cNvPr id="20" name="Shape 17"/>
          <p:cNvSpPr/>
          <p:nvPr/>
        </p:nvSpPr>
        <p:spPr>
          <a:xfrm>
            <a:off x="9372600" y="4924044"/>
            <a:ext cx="137160" cy="164592"/>
          </a:xfrm>
          <a:prstGeom prst="rightArrow">
            <a:avLst/>
          </a:prstGeom>
          <a:solidFill>
            <a:srgbClr val="667061"/>
          </a:solidFill>
          <a:ln/>
        </p:spPr>
      </p:sp>
      <p:sp>
        <p:nvSpPr>
          <p:cNvPr id="21" name="Shape 18"/>
          <p:cNvSpPr/>
          <p:nvPr/>
        </p:nvSpPr>
        <p:spPr>
          <a:xfrm>
            <a:off x="9509760" y="4663440"/>
            <a:ext cx="1600200" cy="685800"/>
          </a:xfrm>
          <a:prstGeom prst="roundRect">
            <a:avLst>
              <a:gd name="adj" fmla="val 10667"/>
            </a:avLst>
          </a:prstGeom>
          <a:solidFill>
            <a:srgbClr val="4A4A4A"/>
          </a:solidFill>
          <a:ln/>
          <a:effectLst>
            <a:outerShdw sx="100000" sy="100000" kx="0" ky="0" algn="bl" rotWithShape="0" blurRad="76200" dist="25400" dir="5400000">
              <a:srgbClr val="1B241B">
                <a:alpha val="18000"/>
              </a:srgbClr>
            </a:outerShdw>
          </a:effectLst>
        </p:spPr>
      </p:sp>
      <p:sp>
        <p:nvSpPr>
          <p:cNvPr id="22" name="Text 19"/>
          <p:cNvSpPr txBox="1"/>
          <p:nvPr/>
        </p:nvSpPr>
        <p:spPr>
          <a:xfrm>
            <a:off x="9564624" y="4663440"/>
            <a:ext cx="1490472" cy="6858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Customer</a:t>
            </a:r>
            <a:endParaRPr lang="en-US" sz="1150" dirty="0"/>
          </a:p>
        </p:txBody>
      </p:sp>
      <p:sp>
        <p:nvSpPr>
          <p:cNvPr id="23" name="Text 20"/>
          <p:cNvSpPr txBox="1"/>
          <p:nvPr/>
        </p:nvSpPr>
        <p:spPr>
          <a:xfrm>
            <a:off x="822960" y="6309360"/>
            <a:ext cx="7315200" cy="274320"/>
          </a:xfrm>
          <a:prstGeom prst="rect">
            <a:avLst/>
          </a:prstGeom>
          <a:noFill/>
          <a:ln/>
        </p:spPr>
        <p:txBody>
          <a:bodyPr wrap="square" lIns="0" tIns="0" rIns="0" bIns="0" rtlCol="0" anchor="ctr"/>
          <a:lstStyle/>
          <a:p>
            <a:pPr indent="0" marL="0">
              <a:buNone/>
            </a:pPr>
            <a:r>
              <a:rPr lang="en-US" sz="1050" dirty="0">
                <a:solidFill>
                  <a:srgbClr val="E2E8DA"/>
                </a:solidFill>
                <a:latin typeface="Calibri" pitchFamily="34" charset="0"/>
                <a:ea typeface="Calibri" pitchFamily="34" charset="-122"/>
                <a:cs typeface="Calibri" pitchFamily="34" charset="-120"/>
              </a:rPr>
              <a:t>Reconstructed from the live repository — commit 713d4d2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THE BIG PICTURE</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The Entire System, In One Picture</a:t>
            </a:r>
            <a:endParaRPr lang="en-US" sz="3000" dirty="0"/>
          </a:p>
        </p:txBody>
      </p:sp>
      <p:sp>
        <p:nvSpPr>
          <p:cNvPr id="4" name="Shape 2"/>
          <p:cNvSpPr/>
          <p:nvPr/>
        </p:nvSpPr>
        <p:spPr>
          <a:xfrm>
            <a:off x="4480560" y="1170432"/>
            <a:ext cx="3200400" cy="384048"/>
          </a:xfrm>
          <a:prstGeom prst="roundRect">
            <a:avLst>
              <a:gd name="adj" fmla="val 16667"/>
            </a:avLst>
          </a:prstGeom>
          <a:solidFill>
            <a:srgbClr val="24352A"/>
          </a:solidFill>
          <a:ln/>
          <a:effectLst>
            <a:outerShdw sx="100000" sy="100000" kx="0" ky="0" algn="bl" rotWithShape="0" blurRad="76200" dist="25400" dir="5400000">
              <a:srgbClr val="1B241B">
                <a:alpha val="18000"/>
              </a:srgbClr>
            </a:outerShdw>
          </a:effectLst>
        </p:spPr>
      </p:sp>
      <p:sp>
        <p:nvSpPr>
          <p:cNvPr id="5" name="Text 3"/>
          <p:cNvSpPr txBox="1"/>
          <p:nvPr/>
        </p:nvSpPr>
        <p:spPr>
          <a:xfrm>
            <a:off x="4617720" y="1170432"/>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Retailer Sources</a:t>
            </a:r>
            <a:endParaRPr lang="en-US" sz="1150" dirty="0"/>
          </a:p>
        </p:txBody>
      </p:sp>
      <p:sp>
        <p:nvSpPr>
          <p:cNvPr id="6" name="Shape 4"/>
          <p:cNvSpPr/>
          <p:nvPr/>
        </p:nvSpPr>
        <p:spPr>
          <a:xfrm>
            <a:off x="5998464" y="1572768"/>
            <a:ext cx="164592" cy="45720"/>
          </a:xfrm>
          <a:prstGeom prst="downArrow">
            <a:avLst/>
          </a:prstGeom>
          <a:solidFill>
            <a:srgbClr val="667061"/>
          </a:solidFill>
          <a:ln/>
        </p:spPr>
      </p:sp>
      <p:sp>
        <p:nvSpPr>
          <p:cNvPr id="7" name="Shape 5"/>
          <p:cNvSpPr/>
          <p:nvPr/>
        </p:nvSpPr>
        <p:spPr>
          <a:xfrm>
            <a:off x="4480560" y="1636776"/>
            <a:ext cx="3200400" cy="384048"/>
          </a:xfrm>
          <a:prstGeom prst="roundRect">
            <a:avLst>
              <a:gd name="adj" fmla="val 16667"/>
            </a:avLst>
          </a:prstGeom>
          <a:solidFill>
            <a:srgbClr val="24352A"/>
          </a:solidFill>
          <a:ln/>
          <a:effectLst>
            <a:outerShdw sx="100000" sy="100000" kx="0" ky="0" algn="bl" rotWithShape="0" blurRad="76200" dist="25400" dir="5400000">
              <a:srgbClr val="1B241B">
                <a:alpha val="18000"/>
              </a:srgbClr>
            </a:outerShdw>
          </a:effectLst>
        </p:spPr>
      </p:sp>
      <p:sp>
        <p:nvSpPr>
          <p:cNvPr id="8" name="Text 6"/>
          <p:cNvSpPr txBox="1"/>
          <p:nvPr/>
        </p:nvSpPr>
        <p:spPr>
          <a:xfrm>
            <a:off x="4617720" y="1636776"/>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Current Inventory</a:t>
            </a:r>
            <a:endParaRPr lang="en-US" sz="1150" dirty="0"/>
          </a:p>
        </p:txBody>
      </p:sp>
      <p:sp>
        <p:nvSpPr>
          <p:cNvPr id="9" name="Shape 7"/>
          <p:cNvSpPr/>
          <p:nvPr/>
        </p:nvSpPr>
        <p:spPr>
          <a:xfrm>
            <a:off x="5998464" y="2039112"/>
            <a:ext cx="164592" cy="45720"/>
          </a:xfrm>
          <a:prstGeom prst="downArrow">
            <a:avLst/>
          </a:prstGeom>
          <a:solidFill>
            <a:srgbClr val="667061"/>
          </a:solidFill>
          <a:ln/>
        </p:spPr>
      </p:sp>
      <p:sp>
        <p:nvSpPr>
          <p:cNvPr id="10" name="Shape 8"/>
          <p:cNvSpPr/>
          <p:nvPr/>
        </p:nvSpPr>
        <p:spPr>
          <a:xfrm>
            <a:off x="4480560" y="2103120"/>
            <a:ext cx="3200400" cy="384048"/>
          </a:xfrm>
          <a:prstGeom prst="roundRect">
            <a:avLst>
              <a:gd name="adj" fmla="val 16667"/>
            </a:avLst>
          </a:prstGeom>
          <a:solidFill>
            <a:srgbClr val="24352A"/>
          </a:solidFill>
          <a:ln/>
          <a:effectLst>
            <a:outerShdw sx="100000" sy="100000" kx="0" ky="0" algn="bl" rotWithShape="0" blurRad="76200" dist="25400" dir="5400000">
              <a:srgbClr val="1B241B">
                <a:alpha val="18000"/>
              </a:srgbClr>
            </a:outerShdw>
          </a:effectLst>
        </p:spPr>
      </p:sp>
      <p:sp>
        <p:nvSpPr>
          <p:cNvPr id="11" name="Text 9"/>
          <p:cNvSpPr txBox="1"/>
          <p:nvPr/>
        </p:nvSpPr>
        <p:spPr>
          <a:xfrm>
            <a:off x="4617720" y="2103120"/>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Product Inventory</a:t>
            </a:r>
            <a:endParaRPr lang="en-US" sz="1150" dirty="0"/>
          </a:p>
        </p:txBody>
      </p:sp>
      <p:sp>
        <p:nvSpPr>
          <p:cNvPr id="12" name="Shape 10"/>
          <p:cNvSpPr/>
          <p:nvPr/>
        </p:nvSpPr>
        <p:spPr>
          <a:xfrm>
            <a:off x="5998464" y="2505456"/>
            <a:ext cx="164592" cy="45720"/>
          </a:xfrm>
          <a:prstGeom prst="downArrow">
            <a:avLst/>
          </a:prstGeom>
          <a:solidFill>
            <a:srgbClr val="667061"/>
          </a:solidFill>
          <a:ln/>
        </p:spPr>
      </p:sp>
      <p:sp>
        <p:nvSpPr>
          <p:cNvPr id="13" name="Shape 11"/>
          <p:cNvSpPr/>
          <p:nvPr/>
        </p:nvSpPr>
        <p:spPr>
          <a:xfrm>
            <a:off x="4480560" y="2569464"/>
            <a:ext cx="3200400" cy="384048"/>
          </a:xfrm>
          <a:prstGeom prst="roundRect">
            <a:avLst>
              <a:gd name="adj" fmla="val 16667"/>
            </a:avLst>
          </a:prstGeom>
          <a:solidFill>
            <a:srgbClr val="24352A"/>
          </a:solidFill>
          <a:ln/>
          <a:effectLst>
            <a:outerShdw sx="100000" sy="100000" kx="0" ky="0" algn="bl" rotWithShape="0" blurRad="76200" dist="25400" dir="5400000">
              <a:srgbClr val="1B241B">
                <a:alpha val="18000"/>
              </a:srgbClr>
            </a:outerShdw>
          </a:effectLst>
        </p:spPr>
      </p:sp>
      <p:sp>
        <p:nvSpPr>
          <p:cNvPr id="14" name="Text 12"/>
          <p:cNvSpPr txBox="1"/>
          <p:nvPr/>
        </p:nvSpPr>
        <p:spPr>
          <a:xfrm>
            <a:off x="4617720" y="2569464"/>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Product Catalog</a:t>
            </a:r>
            <a:endParaRPr lang="en-US" sz="1150" dirty="0"/>
          </a:p>
        </p:txBody>
      </p:sp>
      <p:sp>
        <p:nvSpPr>
          <p:cNvPr id="15" name="Shape 13"/>
          <p:cNvSpPr/>
          <p:nvPr/>
        </p:nvSpPr>
        <p:spPr>
          <a:xfrm>
            <a:off x="5998464" y="2971800"/>
            <a:ext cx="164592" cy="45720"/>
          </a:xfrm>
          <a:prstGeom prst="downArrow">
            <a:avLst/>
          </a:prstGeom>
          <a:solidFill>
            <a:srgbClr val="667061"/>
          </a:solidFill>
          <a:ln/>
        </p:spPr>
      </p:sp>
      <p:sp>
        <p:nvSpPr>
          <p:cNvPr id="16" name="Shape 14"/>
          <p:cNvSpPr/>
          <p:nvPr/>
        </p:nvSpPr>
        <p:spPr>
          <a:xfrm>
            <a:off x="4480560" y="3035808"/>
            <a:ext cx="3200400" cy="384048"/>
          </a:xfrm>
          <a:prstGeom prst="roundRect">
            <a:avLst>
              <a:gd name="adj" fmla="val 16667"/>
            </a:avLst>
          </a:prstGeom>
          <a:solidFill>
            <a:srgbClr val="24352A"/>
          </a:solidFill>
          <a:ln/>
          <a:effectLst>
            <a:outerShdw sx="100000" sy="100000" kx="0" ky="0" algn="bl" rotWithShape="0" blurRad="76200" dist="25400" dir="5400000">
              <a:srgbClr val="1B241B">
                <a:alpha val="18000"/>
              </a:srgbClr>
            </a:outerShdw>
          </a:effectLst>
        </p:spPr>
      </p:sp>
      <p:sp>
        <p:nvSpPr>
          <p:cNvPr id="17" name="Text 15"/>
          <p:cNvSpPr txBox="1"/>
          <p:nvPr/>
        </p:nvSpPr>
        <p:spPr>
          <a:xfrm>
            <a:off x="4617720" y="3035808"/>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Website Export</a:t>
            </a:r>
            <a:endParaRPr lang="en-US" sz="1150" dirty="0"/>
          </a:p>
        </p:txBody>
      </p:sp>
      <p:sp>
        <p:nvSpPr>
          <p:cNvPr id="18" name="Shape 16"/>
          <p:cNvSpPr/>
          <p:nvPr/>
        </p:nvSpPr>
        <p:spPr>
          <a:xfrm>
            <a:off x="5998464" y="3438144"/>
            <a:ext cx="164592" cy="45720"/>
          </a:xfrm>
          <a:prstGeom prst="downArrow">
            <a:avLst/>
          </a:prstGeom>
          <a:solidFill>
            <a:srgbClr val="667061"/>
          </a:solidFill>
          <a:ln/>
        </p:spPr>
      </p:sp>
      <p:sp>
        <p:nvSpPr>
          <p:cNvPr id="19" name="Shape 17"/>
          <p:cNvSpPr/>
          <p:nvPr/>
        </p:nvSpPr>
        <p:spPr>
          <a:xfrm>
            <a:off x="4480560" y="3502152"/>
            <a:ext cx="3200400" cy="384048"/>
          </a:xfrm>
          <a:prstGeom prst="roundRect">
            <a:avLst>
              <a:gd name="adj" fmla="val 16667"/>
            </a:avLst>
          </a:prstGeom>
          <a:solidFill>
            <a:srgbClr val="D9A441"/>
          </a:solidFill>
          <a:ln/>
          <a:effectLst>
            <a:outerShdw sx="100000" sy="100000" kx="0" ky="0" algn="bl" rotWithShape="0" blurRad="76200" dist="25400" dir="5400000">
              <a:srgbClr val="1B241B">
                <a:alpha val="18000"/>
              </a:srgbClr>
            </a:outerShdw>
          </a:effectLst>
        </p:spPr>
      </p:sp>
      <p:sp>
        <p:nvSpPr>
          <p:cNvPr id="20" name="Text 18"/>
          <p:cNvSpPr txBox="1"/>
          <p:nvPr/>
        </p:nvSpPr>
        <p:spPr>
          <a:xfrm>
            <a:off x="4617720" y="3502152"/>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Apps Script Sync</a:t>
            </a:r>
            <a:endParaRPr lang="en-US" sz="1150" dirty="0"/>
          </a:p>
        </p:txBody>
      </p:sp>
      <p:sp>
        <p:nvSpPr>
          <p:cNvPr id="21" name="Shape 19"/>
          <p:cNvSpPr/>
          <p:nvPr/>
        </p:nvSpPr>
        <p:spPr>
          <a:xfrm>
            <a:off x="5998464" y="3904488"/>
            <a:ext cx="164592" cy="45720"/>
          </a:xfrm>
          <a:prstGeom prst="downArrow">
            <a:avLst/>
          </a:prstGeom>
          <a:solidFill>
            <a:srgbClr val="667061"/>
          </a:solidFill>
          <a:ln/>
        </p:spPr>
      </p:sp>
      <p:sp>
        <p:nvSpPr>
          <p:cNvPr id="22" name="Shape 20"/>
          <p:cNvSpPr/>
          <p:nvPr/>
        </p:nvSpPr>
        <p:spPr>
          <a:xfrm>
            <a:off x="4480560" y="3968496"/>
            <a:ext cx="3200400" cy="384048"/>
          </a:xfrm>
          <a:prstGeom prst="roundRect">
            <a:avLst>
              <a:gd name="adj" fmla="val 16667"/>
            </a:avLst>
          </a:prstGeom>
          <a:solidFill>
            <a:srgbClr val="C14A26"/>
          </a:solidFill>
          <a:ln/>
          <a:effectLst>
            <a:outerShdw sx="100000" sy="100000" kx="0" ky="0" algn="bl" rotWithShape="0" blurRad="76200" dist="25400" dir="5400000">
              <a:srgbClr val="1B241B">
                <a:alpha val="18000"/>
              </a:srgbClr>
            </a:outerShdw>
          </a:effectLst>
        </p:spPr>
      </p:sp>
      <p:sp>
        <p:nvSpPr>
          <p:cNvPr id="23" name="Text 21"/>
          <p:cNvSpPr txBox="1"/>
          <p:nvPr/>
        </p:nvSpPr>
        <p:spPr>
          <a:xfrm>
            <a:off x="4617720" y="3968496"/>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Airtable</a:t>
            </a:r>
            <a:endParaRPr lang="en-US" sz="1150" dirty="0"/>
          </a:p>
        </p:txBody>
      </p:sp>
      <p:sp>
        <p:nvSpPr>
          <p:cNvPr id="24" name="Shape 22"/>
          <p:cNvSpPr/>
          <p:nvPr/>
        </p:nvSpPr>
        <p:spPr>
          <a:xfrm>
            <a:off x="5998464" y="4370832"/>
            <a:ext cx="164592" cy="45720"/>
          </a:xfrm>
          <a:prstGeom prst="downArrow">
            <a:avLst/>
          </a:prstGeom>
          <a:solidFill>
            <a:srgbClr val="667061"/>
          </a:solidFill>
          <a:ln/>
        </p:spPr>
      </p:sp>
      <p:sp>
        <p:nvSpPr>
          <p:cNvPr id="25" name="Shape 23"/>
          <p:cNvSpPr/>
          <p:nvPr/>
        </p:nvSpPr>
        <p:spPr>
          <a:xfrm>
            <a:off x="4480560" y="4434840"/>
            <a:ext cx="3200400" cy="384048"/>
          </a:xfrm>
          <a:prstGeom prst="roundRect">
            <a:avLst>
              <a:gd name="adj" fmla="val 16667"/>
            </a:avLst>
          </a:prstGeom>
          <a:solidFill>
            <a:srgbClr val="2C5670"/>
          </a:solidFill>
          <a:ln/>
          <a:effectLst>
            <a:outerShdw sx="100000" sy="100000" kx="0" ky="0" algn="bl" rotWithShape="0" blurRad="76200" dist="25400" dir="5400000">
              <a:srgbClr val="1B241B">
                <a:alpha val="18000"/>
              </a:srgbClr>
            </a:outerShdw>
          </a:effectLst>
        </p:spPr>
      </p:sp>
      <p:sp>
        <p:nvSpPr>
          <p:cNvPr id="26" name="Text 24"/>
          <p:cNvSpPr txBox="1"/>
          <p:nvPr/>
        </p:nvSpPr>
        <p:spPr>
          <a:xfrm>
            <a:off x="4617720" y="4434840"/>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Netlify</a:t>
            </a:r>
            <a:endParaRPr lang="en-US" sz="1150" dirty="0"/>
          </a:p>
        </p:txBody>
      </p:sp>
      <p:sp>
        <p:nvSpPr>
          <p:cNvPr id="27" name="Shape 25"/>
          <p:cNvSpPr/>
          <p:nvPr/>
        </p:nvSpPr>
        <p:spPr>
          <a:xfrm>
            <a:off x="5998464" y="4837176"/>
            <a:ext cx="164592" cy="45720"/>
          </a:xfrm>
          <a:prstGeom prst="downArrow">
            <a:avLst/>
          </a:prstGeom>
          <a:solidFill>
            <a:srgbClr val="667061"/>
          </a:solidFill>
          <a:ln/>
        </p:spPr>
      </p:sp>
      <p:sp>
        <p:nvSpPr>
          <p:cNvPr id="28" name="Shape 26"/>
          <p:cNvSpPr/>
          <p:nvPr/>
        </p:nvSpPr>
        <p:spPr>
          <a:xfrm>
            <a:off x="4480560" y="4901184"/>
            <a:ext cx="3200400" cy="384048"/>
          </a:xfrm>
          <a:prstGeom prst="roundRect">
            <a:avLst>
              <a:gd name="adj" fmla="val 16667"/>
            </a:avLst>
          </a:prstGeom>
          <a:solidFill>
            <a:srgbClr val="34493A"/>
          </a:solidFill>
          <a:ln/>
          <a:effectLst>
            <a:outerShdw sx="100000" sy="100000" kx="0" ky="0" algn="bl" rotWithShape="0" blurRad="76200" dist="25400" dir="5400000">
              <a:srgbClr val="1B241B">
                <a:alpha val="18000"/>
              </a:srgbClr>
            </a:outerShdw>
          </a:effectLst>
        </p:spPr>
      </p:sp>
      <p:sp>
        <p:nvSpPr>
          <p:cNvPr id="29" name="Text 27"/>
          <p:cNvSpPr txBox="1"/>
          <p:nvPr/>
        </p:nvSpPr>
        <p:spPr>
          <a:xfrm>
            <a:off x="4617720" y="4901184"/>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InvictaHomeSupply.com</a:t>
            </a:r>
            <a:endParaRPr lang="en-US" sz="1150" dirty="0"/>
          </a:p>
        </p:txBody>
      </p:sp>
      <p:sp>
        <p:nvSpPr>
          <p:cNvPr id="30" name="Shape 28"/>
          <p:cNvSpPr/>
          <p:nvPr/>
        </p:nvSpPr>
        <p:spPr>
          <a:xfrm>
            <a:off x="5998464" y="5303520"/>
            <a:ext cx="164592" cy="45720"/>
          </a:xfrm>
          <a:prstGeom prst="downArrow">
            <a:avLst/>
          </a:prstGeom>
          <a:solidFill>
            <a:srgbClr val="667061"/>
          </a:solidFill>
          <a:ln/>
        </p:spPr>
      </p:sp>
      <p:sp>
        <p:nvSpPr>
          <p:cNvPr id="31" name="Shape 29"/>
          <p:cNvSpPr/>
          <p:nvPr/>
        </p:nvSpPr>
        <p:spPr>
          <a:xfrm>
            <a:off x="4480560" y="5367528"/>
            <a:ext cx="3200400" cy="384048"/>
          </a:xfrm>
          <a:prstGeom prst="roundRect">
            <a:avLst>
              <a:gd name="adj" fmla="val 16667"/>
            </a:avLst>
          </a:prstGeom>
          <a:solidFill>
            <a:srgbClr val="4A4A4A"/>
          </a:solidFill>
          <a:ln/>
          <a:effectLst>
            <a:outerShdw sx="100000" sy="100000" kx="0" ky="0" algn="bl" rotWithShape="0" blurRad="76200" dist="25400" dir="5400000">
              <a:srgbClr val="1B241B">
                <a:alpha val="18000"/>
              </a:srgbClr>
            </a:outerShdw>
          </a:effectLst>
        </p:spPr>
      </p:sp>
      <p:sp>
        <p:nvSpPr>
          <p:cNvPr id="32" name="Text 30"/>
          <p:cNvSpPr txBox="1"/>
          <p:nvPr/>
        </p:nvSpPr>
        <p:spPr>
          <a:xfrm>
            <a:off x="4617720" y="5367528"/>
            <a:ext cx="2926080" cy="384048"/>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Customer</a:t>
            </a:r>
            <a:endParaRPr lang="en-US" sz="1150" dirty="0"/>
          </a:p>
        </p:txBody>
      </p:sp>
      <p:sp>
        <p:nvSpPr>
          <p:cNvPr id="33" name="Text 31"/>
          <p:cNvSpPr txBox="1"/>
          <p:nvPr/>
        </p:nvSpPr>
        <p:spPr>
          <a:xfrm>
            <a:off x="548640" y="6355080"/>
            <a:ext cx="11064240" cy="365760"/>
          </a:xfrm>
          <a:prstGeom prst="rect">
            <a:avLst/>
          </a:prstGeom>
          <a:noFill/>
          <a:ln/>
        </p:spPr>
        <p:txBody>
          <a:bodyPr wrap="square" lIns="0" tIns="0" rIns="0" bIns="0" rtlCol="0" anchor="ctr"/>
          <a:lstStyle/>
          <a:p>
            <a:pPr algn="ctr" indent="0" marL="0">
              <a:buNone/>
            </a:pPr>
            <a:r>
              <a:rPr lang="en-US" sz="1250" i="1" dirty="0">
                <a:solidFill>
                  <a:srgbClr val="667061"/>
                </a:solidFill>
                <a:latin typeface="Calibri" pitchFamily="34" charset="0"/>
                <a:ea typeface="Calibri" pitchFamily="34" charset="-122"/>
                <a:cs typeface="Calibri" pitchFamily="34" charset="-120"/>
              </a:rPr>
              <a:t>Follow the arrows from top to bottom — that is the whole business, start to finish.</a:t>
            </a:r>
            <a:endParaRPr lang="en-US" sz="1250" dirty="0"/>
          </a:p>
        </p:txBody>
      </p:sp>
      <p:sp>
        <p:nvSpPr>
          <p:cNvPr id="34" name="Text 3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THE BUSINESS PROBLEM</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Why This System Exists</a:t>
            </a:r>
            <a:endParaRPr lang="en-US" sz="3000" dirty="0"/>
          </a:p>
        </p:txBody>
      </p:sp>
      <p:sp>
        <p:nvSpPr>
          <p:cNvPr id="4" name="Shape 2"/>
          <p:cNvSpPr/>
          <p:nvPr/>
        </p:nvSpPr>
        <p:spPr>
          <a:xfrm>
            <a:off x="548640" y="1234440"/>
            <a:ext cx="5303520" cy="4206240"/>
          </a:xfrm>
          <a:prstGeom prst="roundRect">
            <a:avLst>
              <a:gd name="adj" fmla="val 1739"/>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C14A26"/>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448056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The problem</a:t>
            </a:r>
            <a:endParaRPr lang="en-US" sz="1500" dirty="0"/>
          </a:p>
        </p:txBody>
      </p:sp>
      <p:sp>
        <p:nvSpPr>
          <p:cNvPr id="8" name="Text 6"/>
          <p:cNvSpPr txBox="1"/>
          <p:nvPr/>
        </p:nvSpPr>
        <p:spPr>
          <a:xfrm>
            <a:off x="804672" y="1801368"/>
            <a:ext cx="4791456" cy="3474720"/>
          </a:xfrm>
          <a:prstGeom prst="rect">
            <a:avLst/>
          </a:prstGeom>
          <a:noFill/>
          <a:ln/>
        </p:spPr>
        <p:txBody>
          <a:bodyPr wrap="square" lIns="0" tIns="0" rIns="0" bIns="0" rtlCol="0" anchor="t"/>
          <a:lstStyle/>
          <a:p>
            <a:pPr indent="0" marL="0">
              <a:lnSpc>
                <a:spcPct val="112000"/>
              </a:lnSpc>
              <a:buNone/>
            </a:pPr>
            <a:r>
              <a:rPr lang="en-US" sz="1350" dirty="0">
                <a:solidFill>
                  <a:srgbClr val="34493A"/>
                </a:solidFill>
                <a:latin typeface="Calibri" pitchFamily="34" charset="0"/>
                <a:ea typeface="Calibri" pitchFamily="34" charset="-122"/>
                <a:cs typeface="Calibri" pitchFamily="34" charset="-120"/>
              </a:rPr>
              <a:t>Invicta buys home-improvement and flooring inventory from many different retailers, in many different formats. Every item has different fields, different naming, different quality of information.</a:t>
            </a:r>
            <a:endParaRPr lang="en-US" sz="1350" dirty="0"/>
          </a:p>
          <a:p>
            <a:pPr indent="0" marL="0">
              <a:lnSpc>
                <a:spcPct val="112000"/>
              </a:lnSpc>
              <a:buNone/>
            </a:pPr>
            <a:endParaRPr lang="en-US" sz="1350" dirty="0"/>
          </a:p>
          <a:p>
            <a:pPr indent="0" marL="0">
              <a:lnSpc>
                <a:spcPct val="112000"/>
              </a:lnSpc>
              <a:buNone/>
            </a:pPr>
            <a:r>
              <a:rPr lang="en-US" sz="1350" dirty="0">
                <a:solidFill>
                  <a:srgbClr val="34493A"/>
                </a:solidFill>
                <a:latin typeface="Calibri" pitchFamily="34" charset="0"/>
                <a:ea typeface="Calibri" pitchFamily="34" charset="-122"/>
                <a:cs typeface="Calibri" pitchFamily="34" charset="-120"/>
              </a:rPr>
              <a:t>Customers, though, need one clean, trustworthy storefront — consistent names, consistent categories, consistent pricing — no matter where an item originally came from.</a:t>
            </a:r>
            <a:endParaRPr lang="en-US" sz="1350" dirty="0"/>
          </a:p>
        </p:txBody>
      </p:sp>
      <p:sp>
        <p:nvSpPr>
          <p:cNvPr id="9" name="Shape 7"/>
          <p:cNvSpPr/>
          <p:nvPr/>
        </p:nvSpPr>
        <p:spPr>
          <a:xfrm>
            <a:off x="6126480" y="1234440"/>
            <a:ext cx="5303520" cy="4206240"/>
          </a:xfrm>
          <a:prstGeom prst="roundRect">
            <a:avLst>
              <a:gd name="adj" fmla="val 1739"/>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6327648" y="1435608"/>
            <a:ext cx="310896" cy="310896"/>
          </a:xfrm>
          <a:prstGeom prst="ellipse">
            <a:avLst/>
          </a:prstGeom>
          <a:solidFill>
            <a:srgbClr val="24352A"/>
          </a:solidFill>
          <a:ln/>
        </p:spPr>
      </p:sp>
      <p:sp>
        <p:nvSpPr>
          <p:cNvPr id="11" name="Text 9"/>
          <p:cNvSpPr txBox="1"/>
          <p:nvPr/>
        </p:nvSpPr>
        <p:spPr>
          <a:xfrm>
            <a:off x="632764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766560" y="1399032"/>
            <a:ext cx="448056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The solution, in one line</a:t>
            </a:r>
            <a:endParaRPr lang="en-US" sz="1500" dirty="0"/>
          </a:p>
        </p:txBody>
      </p:sp>
      <p:sp>
        <p:nvSpPr>
          <p:cNvPr id="13" name="Text 11"/>
          <p:cNvSpPr txBox="1"/>
          <p:nvPr/>
        </p:nvSpPr>
        <p:spPr>
          <a:xfrm>
            <a:off x="6382512" y="1801368"/>
            <a:ext cx="4791456" cy="3474720"/>
          </a:xfrm>
          <a:prstGeom prst="rect">
            <a:avLst/>
          </a:prstGeom>
          <a:noFill/>
          <a:ln/>
        </p:spPr>
        <p:txBody>
          <a:bodyPr wrap="square" lIns="0" tIns="0" rIns="0" bIns="0" rtlCol="0" anchor="t"/>
          <a:lstStyle/>
          <a:p>
            <a:pPr indent="0" marL="0">
              <a:lnSpc>
                <a:spcPct val="112000"/>
              </a:lnSpc>
              <a:buNone/>
            </a:pPr>
            <a:r>
              <a:rPr lang="en-US" sz="1350" dirty="0">
                <a:solidFill>
                  <a:srgbClr val="34493A"/>
                </a:solidFill>
                <a:latin typeface="Calibri" pitchFamily="34" charset="0"/>
                <a:ea typeface="Calibri" pitchFamily="34" charset="-122"/>
                <a:cs typeface="Calibri" pitchFamily="34" charset="-120"/>
              </a:rPr>
              <a:t>A pipeline of systems — each one doing a specific job — turns messy, varied source inventory into one clean, always-current, always-safe website catalog, without a person retyping every product.</a:t>
            </a:r>
            <a:endParaRPr lang="en-US" sz="1350" dirty="0"/>
          </a:p>
        </p:txBody>
      </p:sp>
      <p:sp>
        <p:nvSpPr>
          <p:cNvPr id="14"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3</a:t>
            </a:r>
            <a:endParaRPr lang="en-US" sz="10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THE CAST OF SYSTEMS</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The Major Systems</a:t>
            </a:r>
            <a:endParaRPr lang="en-US" sz="3000" dirty="0"/>
          </a:p>
        </p:txBody>
      </p:sp>
      <p:sp>
        <p:nvSpPr>
          <p:cNvPr id="4" name="Shape 2"/>
          <p:cNvSpPr/>
          <p:nvPr/>
        </p:nvSpPr>
        <p:spPr>
          <a:xfrm>
            <a:off x="548640" y="123444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Google Sheets</a:t>
            </a:r>
            <a:endParaRPr lang="en-US" sz="1500" dirty="0"/>
          </a:p>
        </p:txBody>
      </p:sp>
      <p:sp>
        <p:nvSpPr>
          <p:cNvPr id="8" name="Text 6"/>
          <p:cNvSpPr txBox="1"/>
          <p:nvPr/>
        </p:nvSpPr>
        <p:spPr>
          <a:xfrm>
            <a:off x="804672" y="180136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master records — where inventory data lives and gets organized.</a:t>
            </a:r>
            <a:endParaRPr lang="en-US" sz="1200" dirty="0"/>
          </a:p>
        </p:txBody>
      </p:sp>
      <p:sp>
        <p:nvSpPr>
          <p:cNvPr id="9" name="Shape 7"/>
          <p:cNvSpPr/>
          <p:nvPr/>
        </p:nvSpPr>
        <p:spPr>
          <a:xfrm>
            <a:off x="4343400" y="123444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4544568" y="1435608"/>
            <a:ext cx="310896" cy="310896"/>
          </a:xfrm>
          <a:prstGeom prst="ellipse">
            <a:avLst/>
          </a:prstGeom>
          <a:solidFill>
            <a:srgbClr val="D9A441"/>
          </a:solidFill>
          <a:ln/>
        </p:spPr>
      </p:sp>
      <p:sp>
        <p:nvSpPr>
          <p:cNvPr id="11" name="Text 9"/>
          <p:cNvSpPr txBox="1"/>
          <p:nvPr/>
        </p:nvSpPr>
        <p:spPr>
          <a:xfrm>
            <a:off x="454456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4983480" y="139903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Google Apps Script</a:t>
            </a:r>
            <a:endParaRPr lang="en-US" sz="1500" dirty="0"/>
          </a:p>
        </p:txBody>
      </p:sp>
      <p:sp>
        <p:nvSpPr>
          <p:cNvPr id="13" name="Text 11"/>
          <p:cNvSpPr txBox="1"/>
          <p:nvPr/>
        </p:nvSpPr>
        <p:spPr>
          <a:xfrm>
            <a:off x="4599432" y="180136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automated workers that move, clean, and check information between sheets.</a:t>
            </a:r>
            <a:endParaRPr lang="en-US" sz="1200" dirty="0"/>
          </a:p>
        </p:txBody>
      </p:sp>
      <p:sp>
        <p:nvSpPr>
          <p:cNvPr id="14" name="Shape 12"/>
          <p:cNvSpPr/>
          <p:nvPr/>
        </p:nvSpPr>
        <p:spPr>
          <a:xfrm>
            <a:off x="8138160" y="123444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5" name="Shape 13"/>
          <p:cNvSpPr/>
          <p:nvPr/>
        </p:nvSpPr>
        <p:spPr>
          <a:xfrm>
            <a:off x="8339328" y="1435608"/>
            <a:ext cx="310896" cy="310896"/>
          </a:xfrm>
          <a:prstGeom prst="ellipse">
            <a:avLst/>
          </a:prstGeom>
          <a:solidFill>
            <a:srgbClr val="C14A26"/>
          </a:solidFill>
          <a:ln/>
        </p:spPr>
      </p:sp>
      <p:sp>
        <p:nvSpPr>
          <p:cNvPr id="16" name="Text 14"/>
          <p:cNvSpPr txBox="1"/>
          <p:nvPr/>
        </p:nvSpPr>
        <p:spPr>
          <a:xfrm>
            <a:off x="833932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8778240" y="139903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Airtable</a:t>
            </a:r>
            <a:endParaRPr lang="en-US" sz="1500" dirty="0"/>
          </a:p>
        </p:txBody>
      </p:sp>
      <p:sp>
        <p:nvSpPr>
          <p:cNvPr id="18" name="Text 16"/>
          <p:cNvSpPr txBox="1"/>
          <p:nvPr/>
        </p:nvSpPr>
        <p:spPr>
          <a:xfrm>
            <a:off x="8394192" y="180136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fast, always-ready, website-facing copy of the approved catalog.</a:t>
            </a:r>
            <a:endParaRPr lang="en-US" sz="1200" dirty="0"/>
          </a:p>
        </p:txBody>
      </p:sp>
      <p:sp>
        <p:nvSpPr>
          <p:cNvPr id="19" name="Shape 17"/>
          <p:cNvSpPr/>
          <p:nvPr/>
        </p:nvSpPr>
        <p:spPr>
          <a:xfrm>
            <a:off x="548640" y="333756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0" name="Shape 18"/>
          <p:cNvSpPr/>
          <p:nvPr/>
        </p:nvSpPr>
        <p:spPr>
          <a:xfrm>
            <a:off x="749808" y="3538728"/>
            <a:ext cx="310896" cy="310896"/>
          </a:xfrm>
          <a:prstGeom prst="ellipse">
            <a:avLst/>
          </a:prstGeom>
          <a:solidFill>
            <a:srgbClr val="34493A"/>
          </a:solidFill>
          <a:ln/>
        </p:spPr>
      </p:sp>
      <p:sp>
        <p:nvSpPr>
          <p:cNvPr id="21" name="Text 19"/>
          <p:cNvSpPr txBox="1"/>
          <p:nvPr/>
        </p:nvSpPr>
        <p:spPr>
          <a:xfrm>
            <a:off x="749808" y="35387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188720" y="350215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GitHub</a:t>
            </a:r>
            <a:endParaRPr lang="en-US" sz="1500" dirty="0"/>
          </a:p>
        </p:txBody>
      </p:sp>
      <p:sp>
        <p:nvSpPr>
          <p:cNvPr id="23" name="Text 21"/>
          <p:cNvSpPr txBox="1"/>
          <p:nvPr/>
        </p:nvSpPr>
        <p:spPr>
          <a:xfrm>
            <a:off x="804672" y="390448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Where the website's own code lives and is reviewed before it ships.</a:t>
            </a:r>
            <a:endParaRPr lang="en-US" sz="1200" dirty="0"/>
          </a:p>
        </p:txBody>
      </p:sp>
      <p:sp>
        <p:nvSpPr>
          <p:cNvPr id="24" name="Shape 22"/>
          <p:cNvSpPr/>
          <p:nvPr/>
        </p:nvSpPr>
        <p:spPr>
          <a:xfrm>
            <a:off x="4343400" y="333756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5" name="Shape 23"/>
          <p:cNvSpPr/>
          <p:nvPr/>
        </p:nvSpPr>
        <p:spPr>
          <a:xfrm>
            <a:off x="4544568" y="3538728"/>
            <a:ext cx="310896" cy="310896"/>
          </a:xfrm>
          <a:prstGeom prst="ellipse">
            <a:avLst/>
          </a:prstGeom>
          <a:solidFill>
            <a:srgbClr val="2C5670"/>
          </a:solidFill>
          <a:ln/>
        </p:spPr>
      </p:sp>
      <p:sp>
        <p:nvSpPr>
          <p:cNvPr id="26" name="Text 24"/>
          <p:cNvSpPr txBox="1"/>
          <p:nvPr/>
        </p:nvSpPr>
        <p:spPr>
          <a:xfrm>
            <a:off x="4544568" y="35387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4983480" y="350215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Netlify</a:t>
            </a:r>
            <a:endParaRPr lang="en-US" sz="1500" dirty="0"/>
          </a:p>
        </p:txBody>
      </p:sp>
      <p:sp>
        <p:nvSpPr>
          <p:cNvPr id="28" name="Text 26"/>
          <p:cNvSpPr txBox="1"/>
          <p:nvPr/>
        </p:nvSpPr>
        <p:spPr>
          <a:xfrm>
            <a:off x="4599432" y="390448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engine room — builds and serves the website and its small backend functions.</a:t>
            </a:r>
            <a:endParaRPr lang="en-US" sz="1200" dirty="0"/>
          </a:p>
        </p:txBody>
      </p:sp>
      <p:sp>
        <p:nvSpPr>
          <p:cNvPr id="29" name="Shape 27"/>
          <p:cNvSpPr/>
          <p:nvPr/>
        </p:nvSpPr>
        <p:spPr>
          <a:xfrm>
            <a:off x="8138160" y="3337560"/>
            <a:ext cx="3611880" cy="1874520"/>
          </a:xfrm>
          <a:prstGeom prst="roundRect">
            <a:avLst>
              <a:gd name="adj" fmla="val 39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30" name="Shape 28"/>
          <p:cNvSpPr/>
          <p:nvPr/>
        </p:nvSpPr>
        <p:spPr>
          <a:xfrm>
            <a:off x="8339328" y="3538728"/>
            <a:ext cx="310896" cy="310896"/>
          </a:xfrm>
          <a:prstGeom prst="ellipse">
            <a:avLst/>
          </a:prstGeom>
          <a:solidFill>
            <a:srgbClr val="34493A"/>
          </a:solidFill>
          <a:ln/>
        </p:spPr>
      </p:sp>
      <p:sp>
        <p:nvSpPr>
          <p:cNvPr id="31" name="Text 29"/>
          <p:cNvSpPr txBox="1"/>
          <p:nvPr/>
        </p:nvSpPr>
        <p:spPr>
          <a:xfrm>
            <a:off x="8339328" y="35387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txBox="1"/>
          <p:nvPr/>
        </p:nvSpPr>
        <p:spPr>
          <a:xfrm>
            <a:off x="8778240" y="3502152"/>
            <a:ext cx="278892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Invicta Website</a:t>
            </a:r>
            <a:endParaRPr lang="en-US" sz="1500" dirty="0"/>
          </a:p>
        </p:txBody>
      </p:sp>
      <p:sp>
        <p:nvSpPr>
          <p:cNvPr id="33" name="Text 31"/>
          <p:cNvSpPr txBox="1"/>
          <p:nvPr/>
        </p:nvSpPr>
        <p:spPr>
          <a:xfrm>
            <a:off x="8394192" y="3904488"/>
            <a:ext cx="3099816" cy="114300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storefront customers actually see and shop from.</a:t>
            </a:r>
            <a:endParaRPr lang="en-US" sz="1200" dirty="0"/>
          </a:p>
        </p:txBody>
      </p:sp>
      <p:sp>
        <p:nvSpPr>
          <p:cNvPr id="34" name="Text 3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4</a:t>
            </a:r>
            <a:endParaRPr lang="en-US" sz="1000" dirty="0"/>
          </a:p>
        </p:txBody>
      </p:sp>
      <p:sp>
        <p:nvSpPr>
          <p:cNvPr id="35" name="Text 3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Where Inventory Starts</a:t>
            </a:r>
            <a:endParaRPr lang="en-US" sz="3000" dirty="0"/>
          </a:p>
        </p:txBody>
      </p:sp>
      <p:sp>
        <p:nvSpPr>
          <p:cNvPr id="4" name="Shape 2"/>
          <p:cNvSpPr/>
          <p:nvPr/>
        </p:nvSpPr>
        <p:spPr>
          <a:xfrm>
            <a:off x="548640" y="1234440"/>
            <a:ext cx="5394960" cy="4297680"/>
          </a:xfrm>
          <a:prstGeom prst="roundRect">
            <a:avLst>
              <a:gd name="adj" fmla="val 17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Documented architecture — verified from code</a:t>
            </a:r>
            <a:endParaRPr lang="en-US" sz="1500" dirty="0"/>
          </a:p>
        </p:txBody>
      </p:sp>
      <p:sp>
        <p:nvSpPr>
          <p:cNvPr id="8" name="Text 6"/>
          <p:cNvSpPr txBox="1"/>
          <p:nvPr/>
        </p:nvSpPr>
        <p:spPr>
          <a:xfrm>
            <a:off x="804672" y="1801368"/>
            <a:ext cx="4882896" cy="356616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Code.js (the Apps Script project's own documentation file) documents the entry point as a “Walmart Shopping” source workbook, feeding into a “Current Inventory” layer before Product Inventory. This is the documented design of the pipeline.</a:t>
            </a:r>
            <a:endParaRPr lang="en-US" sz="1250" dirty="0"/>
          </a:p>
          <a:p>
            <a:pPr indent="0" marL="0">
              <a:lnSpc>
                <a:spcPct val="112000"/>
              </a:lnSpc>
              <a:buNone/>
            </a:pP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No Apps Script file in this repository reads or writes that source sheet directly — it is documentation, not executable code this project runs.</a:t>
            </a:r>
            <a:endParaRPr lang="en-US" sz="1250" dirty="0"/>
          </a:p>
        </p:txBody>
      </p:sp>
      <p:sp>
        <p:nvSpPr>
          <p:cNvPr id="9" name="Shape 7"/>
          <p:cNvSpPr/>
          <p:nvPr/>
        </p:nvSpPr>
        <p:spPr>
          <a:xfrm>
            <a:off x="6263640" y="1234440"/>
            <a:ext cx="5166360" cy="4297680"/>
          </a:xfrm>
          <a:prstGeom prst="roundRect">
            <a:avLst>
              <a:gd name="adj" fmla="val 17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6464808" y="1435608"/>
            <a:ext cx="310896" cy="310896"/>
          </a:xfrm>
          <a:prstGeom prst="ellipse">
            <a:avLst/>
          </a:prstGeom>
          <a:solidFill>
            <a:srgbClr val="C14A26"/>
          </a:solidFill>
          <a:ln/>
        </p:spPr>
      </p:sp>
      <p:sp>
        <p:nvSpPr>
          <p:cNvPr id="11" name="Text 9"/>
          <p:cNvSpPr txBox="1"/>
          <p:nvPr/>
        </p:nvSpPr>
        <p:spPr>
          <a:xfrm>
            <a:off x="6464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903720" y="1399032"/>
            <a:ext cx="43434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Current live configuration — requires verification</a:t>
            </a:r>
            <a:endParaRPr lang="en-US" sz="1500" dirty="0"/>
          </a:p>
        </p:txBody>
      </p:sp>
      <p:sp>
        <p:nvSpPr>
          <p:cNvPr id="13" name="Text 11"/>
          <p:cNvSpPr txBox="1"/>
          <p:nvPr/>
        </p:nvSpPr>
        <p:spPr>
          <a:xfrm>
            <a:off x="6519672" y="1801368"/>
            <a:ext cx="4654296" cy="356616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The documented role above is not in question. What requires verification is only:</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  Whether “Walmart Shopping” and “Current Inventory” still represent today's live setup</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  Whether additional retailer sources exist beyond what's documented</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  The actual live-workbook tab names and layout today</a:t>
            </a:r>
            <a:endParaRPr lang="en-US" sz="1200" dirty="0"/>
          </a:p>
          <a:p>
            <a:pPr indent="0" marL="0">
              <a:lnSpc>
                <a:spcPct val="112000"/>
              </a:lnSpc>
              <a:buNone/>
            </a:pP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This deck never invents these details — see the companion document’s question list.</a:t>
            </a:r>
            <a:endParaRPr lang="en-US" sz="1200" dirty="0"/>
          </a:p>
        </p:txBody>
      </p:sp>
      <p:sp>
        <p:nvSpPr>
          <p:cNvPr id="14"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5</a:t>
            </a:r>
            <a:endParaRPr lang="en-US" sz="10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STEP 2</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Current Inventory</a:t>
            </a:r>
            <a:endParaRPr lang="en-US" sz="3000" dirty="0"/>
          </a:p>
        </p:txBody>
      </p:sp>
      <p:sp>
        <p:nvSpPr>
          <p:cNvPr id="4" name="Shape 2"/>
          <p:cNvSpPr/>
          <p:nvPr/>
        </p:nvSpPr>
        <p:spPr>
          <a:xfrm>
            <a:off x="548640" y="1234440"/>
            <a:ext cx="11064240" cy="1828800"/>
          </a:xfrm>
          <a:prstGeom prst="roundRect">
            <a:avLst>
              <a:gd name="adj" fmla="val 400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Documented architecture — what this layer represents</a:t>
            </a:r>
            <a:endParaRPr lang="en-US" sz="1500" dirty="0"/>
          </a:p>
        </p:txBody>
      </p:sp>
      <p:sp>
        <p:nvSpPr>
          <p:cNvPr id="8" name="Text 6"/>
          <p:cNvSpPr txBox="1"/>
          <p:nvPr/>
        </p:nvSpPr>
        <p:spPr>
          <a:xfrm>
            <a:off x="804672" y="1801368"/>
            <a:ext cx="10552176" cy="1097280"/>
          </a:xfrm>
          <a:prstGeom prst="rect">
            <a:avLst/>
          </a:prstGeom>
          <a:noFill/>
          <a:ln/>
        </p:spPr>
        <p:txBody>
          <a:bodyPr wrap="square" lIns="0" tIns="0" rIns="0" bIns="0" rtlCol="0" anchor="t"/>
          <a:lstStyle/>
          <a:p>
            <a:pPr indent="0" marL="0">
              <a:lnSpc>
                <a:spcPct val="112000"/>
              </a:lnSpc>
              <a:buNone/>
            </a:pPr>
            <a:r>
              <a:rPr lang="en-US" sz="1300" dirty="0">
                <a:solidFill>
                  <a:srgbClr val="34493A"/>
                </a:solidFill>
                <a:latin typeface="Calibri" pitchFamily="34" charset="0"/>
                <a:ea typeface="Calibri" pitchFamily="34" charset="-122"/>
                <a:cs typeface="Calibri" pitchFamily="34" charset="-120"/>
              </a:rPr>
              <a:t>A staging layer between the raw retailer source and Product Inventory — named in Code.js’s architecture documentation as part of the intended pipeline, sitting between the retailer source workbook and Product Inventory. This documented role is verified from code comments.</a:t>
            </a:r>
            <a:endParaRPr lang="en-US" sz="1300" dirty="0"/>
          </a:p>
        </p:txBody>
      </p:sp>
      <p:sp>
        <p:nvSpPr>
          <p:cNvPr id="9" name="Shape 7"/>
          <p:cNvSpPr/>
          <p:nvPr/>
        </p:nvSpPr>
        <p:spPr>
          <a:xfrm>
            <a:off x="548640" y="3291840"/>
            <a:ext cx="11064240" cy="2148840"/>
          </a:xfrm>
          <a:prstGeom prst="roundRect">
            <a:avLst>
              <a:gd name="adj" fmla="val 340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749808" y="3493008"/>
            <a:ext cx="310896" cy="310896"/>
          </a:xfrm>
          <a:prstGeom prst="ellipse">
            <a:avLst/>
          </a:prstGeom>
          <a:solidFill>
            <a:srgbClr val="C14A26"/>
          </a:solidFill>
          <a:ln/>
        </p:spPr>
      </p:sp>
      <p:sp>
        <p:nvSpPr>
          <p:cNvPr id="11" name="Text 9"/>
          <p:cNvSpPr txBox="1"/>
          <p:nvPr/>
        </p:nvSpPr>
        <p:spPr>
          <a:xfrm>
            <a:off x="749808" y="34930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1188720" y="34564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Current live configuration — requires verification</a:t>
            </a:r>
            <a:endParaRPr lang="en-US" sz="1500" dirty="0"/>
          </a:p>
        </p:txBody>
      </p:sp>
      <p:sp>
        <p:nvSpPr>
          <p:cNvPr id="13" name="Text 11"/>
          <p:cNvSpPr txBox="1"/>
          <p:nvPr/>
        </p:nvSpPr>
        <p:spPr>
          <a:xfrm>
            <a:off x="804672" y="3858768"/>
            <a:ext cx="10552176" cy="1417320"/>
          </a:xfrm>
          <a:prstGeom prst="rect">
            <a:avLst/>
          </a:prstGeom>
          <a:noFill/>
          <a:ln/>
        </p:spPr>
        <p:txBody>
          <a:bodyPr wrap="square" lIns="0" tIns="0" rIns="0" bIns="0" rtlCol="0" anchor="t"/>
          <a:lstStyle/>
          <a:p>
            <a:pPr indent="0" marL="0">
              <a:lnSpc>
                <a:spcPct val="112000"/>
              </a:lnSpc>
              <a:buNone/>
            </a:pPr>
            <a:r>
              <a:rPr lang="en-US" sz="1300" dirty="0">
                <a:solidFill>
                  <a:srgbClr val="34493A"/>
                </a:solidFill>
                <a:latin typeface="Calibri" pitchFamily="34" charset="0"/>
                <a:ea typeface="Calibri" pitchFamily="34" charset="-122"/>
                <a:cs typeface="Calibri" pitchFamily="34" charset="-120"/>
              </a:rPr>
              <a:t>No Apps Script file in this repository reads or writes a sheet by this name, so its documented role cannot be cross-checked against executable code. Whether a tab by this name still exists in the live workbook today, and whether its structure still matches this description, is not confirmable from this repository — this is intentionally not guessed.</a:t>
            </a:r>
            <a:endParaRPr lang="en-US" sz="1300" dirty="0"/>
          </a:p>
        </p:txBody>
      </p:sp>
      <p:sp>
        <p:nvSpPr>
          <p:cNvPr id="14"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6</a:t>
            </a:r>
            <a:endParaRPr lang="en-US" sz="10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STEP 3</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 Inventory</a:t>
            </a:r>
            <a:endParaRPr lang="en-US" sz="3000" dirty="0"/>
          </a:p>
        </p:txBody>
      </p:sp>
      <p:sp>
        <p:nvSpPr>
          <p:cNvPr id="4" name="Shape 2"/>
          <p:cNvSpPr/>
          <p:nvPr/>
        </p:nvSpPr>
        <p:spPr>
          <a:xfrm>
            <a:off x="548640" y="1234440"/>
            <a:ext cx="5394960" cy="4297680"/>
          </a:xfrm>
          <a:prstGeom prst="roundRect">
            <a:avLst>
              <a:gd name="adj" fmla="val 17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Purpose — verified from code</a:t>
            </a:r>
            <a:endParaRPr lang="en-US" sz="1500" dirty="0"/>
          </a:p>
        </p:txBody>
      </p:sp>
      <p:sp>
        <p:nvSpPr>
          <p:cNvPr id="8" name="Text 6"/>
          <p:cNvSpPr txBox="1"/>
          <p:nvPr/>
        </p:nvSpPr>
        <p:spPr>
          <a:xfrm>
            <a:off x="804672" y="1801368"/>
            <a:ext cx="4882896" cy="356616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Sheet name: “Product Inventory” (Config.js). This is the layer Product Catalog actually reads from to add new products and refresh retailer/SKU details.</a:t>
            </a:r>
            <a:endParaRPr lang="en-US" sz="1250" dirty="0"/>
          </a:p>
          <a:p>
            <a:pPr indent="0" marL="0">
              <a:lnSpc>
                <a:spcPct val="112000"/>
              </a:lnSpc>
              <a:buNone/>
            </a:pP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Read-only everywhere it appears — no Apps Script file in this repo ever writes to it.</a:t>
            </a:r>
            <a:endParaRPr lang="en-US" sz="1250" dirty="0"/>
          </a:p>
        </p:txBody>
      </p:sp>
      <p:sp>
        <p:nvSpPr>
          <p:cNvPr id="9" name="Shape 7"/>
          <p:cNvSpPr/>
          <p:nvPr/>
        </p:nvSpPr>
        <p:spPr>
          <a:xfrm>
            <a:off x="6263640" y="1234440"/>
            <a:ext cx="5166360" cy="4297680"/>
          </a:xfrm>
          <a:prstGeom prst="roundRect">
            <a:avLst>
              <a:gd name="adj" fmla="val 1702"/>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6464808" y="1435608"/>
            <a:ext cx="310896" cy="310896"/>
          </a:xfrm>
          <a:prstGeom prst="ellipse">
            <a:avLst/>
          </a:prstGeom>
          <a:solidFill>
            <a:srgbClr val="24352A"/>
          </a:solidFill>
          <a:ln/>
        </p:spPr>
      </p:sp>
      <p:sp>
        <p:nvSpPr>
          <p:cNvPr id="11" name="Text 9"/>
          <p:cNvSpPr txBox="1"/>
          <p:nvPr/>
        </p:nvSpPr>
        <p:spPr>
          <a:xfrm>
            <a:off x="6464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903720" y="1399032"/>
            <a:ext cx="43434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Columns actually read (A–F)</a:t>
            </a:r>
            <a:endParaRPr lang="en-US" sz="1500" dirty="0"/>
          </a:p>
        </p:txBody>
      </p:sp>
      <p:sp>
        <p:nvSpPr>
          <p:cNvPr id="13" name="Text 11"/>
          <p:cNvSpPr txBox="1"/>
          <p:nvPr/>
        </p:nvSpPr>
        <p:spPr>
          <a:xfrm>
            <a:off x="6519672" y="1801368"/>
            <a:ext cx="4654296" cy="356616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A  Product Key</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B  Product ID</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C  Retail SKU</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D  Item</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E  Category</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F  Retailer</a:t>
            </a:r>
            <a:endParaRPr lang="en-US" sz="1250" dirty="0"/>
          </a:p>
          <a:p>
            <a:pPr indent="0" marL="0">
              <a:lnSpc>
                <a:spcPct val="112000"/>
              </a:lnSpc>
              <a:buNone/>
            </a:pP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(ProductCatalogMaintenance.js reads these positionally; LegacyRepair.js reads the same sheet by header name instead — see Appendix.)</a:t>
            </a:r>
            <a:endParaRPr lang="en-US" sz="1250" dirty="0"/>
          </a:p>
        </p:txBody>
      </p:sp>
      <p:sp>
        <p:nvSpPr>
          <p:cNvPr id="14"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7</a:t>
            </a:r>
            <a:endParaRPr lang="en-US" sz="10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STEP 4</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 Catalog</a:t>
            </a:r>
            <a:endParaRPr lang="en-US" sz="3000" dirty="0"/>
          </a:p>
        </p:txBody>
      </p:sp>
      <p:sp>
        <p:nvSpPr>
          <p:cNvPr id="4" name="Text 2"/>
          <p:cNvSpPr txBox="1"/>
          <p:nvPr/>
        </p:nvSpPr>
        <p:spPr>
          <a:xfrm>
            <a:off x="548640" y="1234440"/>
            <a:ext cx="11064240" cy="502920"/>
          </a:xfrm>
          <a:prstGeom prst="rect">
            <a:avLst/>
          </a:prstGeom>
          <a:noFill/>
          <a:ln/>
        </p:spPr>
        <p:txBody>
          <a:bodyPr wrap="square" lIns="0" tIns="0" rIns="0" bIns="0" rtlCol="0" anchor="ctr"/>
          <a:lstStyle/>
          <a:p>
            <a:pPr indent="0" marL="0">
              <a:buNone/>
            </a:pPr>
            <a:r>
              <a:rPr lang="en-US" sz="1350" dirty="0">
                <a:solidFill>
                  <a:srgbClr val="34493A"/>
                </a:solidFill>
                <a:latin typeface="Calibri" pitchFamily="34" charset="0"/>
                <a:ea typeface="Calibri" pitchFamily="34" charset="-122"/>
                <a:cs typeface="Calibri" pitchFamily="34" charset="-120"/>
              </a:rPr>
              <a:t>The permanent product library — one durable row per product ever carried, including retired/legacy products. This is where customer-facing content lives.</a:t>
            </a:r>
            <a:endParaRPr lang="en-US" sz="1350" dirty="0"/>
          </a:p>
        </p:txBody>
      </p:sp>
      <p:sp>
        <p:nvSpPr>
          <p:cNvPr id="5" name="Shape 3"/>
          <p:cNvSpPr/>
          <p:nvPr/>
        </p:nvSpPr>
        <p:spPr>
          <a:xfrm>
            <a:off x="548640" y="1920240"/>
            <a:ext cx="2139696" cy="960120"/>
          </a:xfrm>
          <a:prstGeom prst="roundRect">
            <a:avLst>
              <a:gd name="adj" fmla="val 6667"/>
            </a:avLst>
          </a:prstGeom>
          <a:solidFill>
            <a:srgbClr val="EEF1EA"/>
          </a:solidFill>
          <a:ln w="12700">
            <a:solidFill>
              <a:srgbClr val="D7DDD0"/>
            </a:solidFill>
            <a:prstDash val="solid"/>
          </a:ln>
        </p:spPr>
      </p:sp>
      <p:sp>
        <p:nvSpPr>
          <p:cNvPr id="6" name="Text 4"/>
          <p:cNvSpPr txBox="1"/>
          <p:nvPr/>
        </p:nvSpPr>
        <p:spPr>
          <a:xfrm>
            <a:off x="621792" y="1920240"/>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Display Name</a:t>
            </a:r>
            <a:endParaRPr lang="en-US" sz="1250" dirty="0"/>
          </a:p>
        </p:txBody>
      </p:sp>
      <p:sp>
        <p:nvSpPr>
          <p:cNvPr id="7" name="Shape 5"/>
          <p:cNvSpPr/>
          <p:nvPr/>
        </p:nvSpPr>
        <p:spPr>
          <a:xfrm>
            <a:off x="2798064" y="1920240"/>
            <a:ext cx="2139696" cy="960120"/>
          </a:xfrm>
          <a:prstGeom prst="roundRect">
            <a:avLst>
              <a:gd name="adj" fmla="val 6667"/>
            </a:avLst>
          </a:prstGeom>
          <a:solidFill>
            <a:srgbClr val="EEF1EA"/>
          </a:solidFill>
          <a:ln w="12700">
            <a:solidFill>
              <a:srgbClr val="D7DDD0"/>
            </a:solidFill>
            <a:prstDash val="solid"/>
          </a:ln>
        </p:spPr>
      </p:sp>
      <p:sp>
        <p:nvSpPr>
          <p:cNvPr id="8" name="Text 6"/>
          <p:cNvSpPr txBox="1"/>
          <p:nvPr/>
        </p:nvSpPr>
        <p:spPr>
          <a:xfrm>
            <a:off x="2871216" y="1920240"/>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Website Category</a:t>
            </a:r>
            <a:endParaRPr lang="en-US" sz="1250" dirty="0"/>
          </a:p>
        </p:txBody>
      </p:sp>
      <p:sp>
        <p:nvSpPr>
          <p:cNvPr id="9" name="Shape 7"/>
          <p:cNvSpPr/>
          <p:nvPr/>
        </p:nvSpPr>
        <p:spPr>
          <a:xfrm>
            <a:off x="5047488" y="1920240"/>
            <a:ext cx="2139696" cy="960120"/>
          </a:xfrm>
          <a:prstGeom prst="roundRect">
            <a:avLst>
              <a:gd name="adj" fmla="val 6667"/>
            </a:avLst>
          </a:prstGeom>
          <a:solidFill>
            <a:srgbClr val="EEF1EA"/>
          </a:solidFill>
          <a:ln w="12700">
            <a:solidFill>
              <a:srgbClr val="D7DDD0"/>
            </a:solidFill>
            <a:prstDash val="solid"/>
          </a:ln>
        </p:spPr>
      </p:sp>
      <p:sp>
        <p:nvSpPr>
          <p:cNvPr id="10" name="Text 8"/>
          <p:cNvSpPr txBox="1"/>
          <p:nvPr/>
        </p:nvSpPr>
        <p:spPr>
          <a:xfrm>
            <a:off x="5120640" y="1920240"/>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Brand</a:t>
            </a:r>
            <a:endParaRPr lang="en-US" sz="1250" dirty="0"/>
          </a:p>
        </p:txBody>
      </p:sp>
      <p:sp>
        <p:nvSpPr>
          <p:cNvPr id="11" name="Shape 9"/>
          <p:cNvSpPr/>
          <p:nvPr/>
        </p:nvSpPr>
        <p:spPr>
          <a:xfrm>
            <a:off x="7296912" y="1920240"/>
            <a:ext cx="2139696" cy="960120"/>
          </a:xfrm>
          <a:prstGeom prst="roundRect">
            <a:avLst>
              <a:gd name="adj" fmla="val 6667"/>
            </a:avLst>
          </a:prstGeom>
          <a:solidFill>
            <a:srgbClr val="EEF1EA"/>
          </a:solidFill>
          <a:ln w="12700">
            <a:solidFill>
              <a:srgbClr val="D7DDD0"/>
            </a:solidFill>
            <a:prstDash val="solid"/>
          </a:ln>
        </p:spPr>
      </p:sp>
      <p:sp>
        <p:nvSpPr>
          <p:cNvPr id="12" name="Text 10"/>
          <p:cNvSpPr txBox="1"/>
          <p:nvPr/>
        </p:nvSpPr>
        <p:spPr>
          <a:xfrm>
            <a:off x="7370064" y="1920240"/>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Model</a:t>
            </a:r>
            <a:endParaRPr lang="en-US" sz="1250" dirty="0"/>
          </a:p>
        </p:txBody>
      </p:sp>
      <p:sp>
        <p:nvSpPr>
          <p:cNvPr id="13" name="Shape 11"/>
          <p:cNvSpPr/>
          <p:nvPr/>
        </p:nvSpPr>
        <p:spPr>
          <a:xfrm>
            <a:off x="9546336" y="1920240"/>
            <a:ext cx="2139696" cy="960120"/>
          </a:xfrm>
          <a:prstGeom prst="roundRect">
            <a:avLst>
              <a:gd name="adj" fmla="val 6667"/>
            </a:avLst>
          </a:prstGeom>
          <a:solidFill>
            <a:srgbClr val="EEF1EA"/>
          </a:solidFill>
          <a:ln w="12700">
            <a:solidFill>
              <a:srgbClr val="D7DDD0"/>
            </a:solidFill>
            <a:prstDash val="solid"/>
          </a:ln>
        </p:spPr>
      </p:sp>
      <p:sp>
        <p:nvSpPr>
          <p:cNvPr id="14" name="Text 12"/>
          <p:cNvSpPr txBox="1"/>
          <p:nvPr/>
        </p:nvSpPr>
        <p:spPr>
          <a:xfrm>
            <a:off x="9619488" y="1920240"/>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Sell Price</a:t>
            </a:r>
            <a:endParaRPr lang="en-US" sz="1250" dirty="0"/>
          </a:p>
        </p:txBody>
      </p:sp>
      <p:sp>
        <p:nvSpPr>
          <p:cNvPr id="15" name="Shape 13"/>
          <p:cNvSpPr/>
          <p:nvPr/>
        </p:nvSpPr>
        <p:spPr>
          <a:xfrm>
            <a:off x="548640" y="3026664"/>
            <a:ext cx="2139696" cy="960120"/>
          </a:xfrm>
          <a:prstGeom prst="roundRect">
            <a:avLst>
              <a:gd name="adj" fmla="val 6667"/>
            </a:avLst>
          </a:prstGeom>
          <a:solidFill>
            <a:srgbClr val="EEF1EA"/>
          </a:solidFill>
          <a:ln w="12700">
            <a:solidFill>
              <a:srgbClr val="D7DDD0"/>
            </a:solidFill>
            <a:prstDash val="solid"/>
          </a:ln>
        </p:spPr>
      </p:sp>
      <p:sp>
        <p:nvSpPr>
          <p:cNvPr id="16" name="Text 14"/>
          <p:cNvSpPr txBox="1"/>
          <p:nvPr/>
        </p:nvSpPr>
        <p:spPr>
          <a:xfrm>
            <a:off x="621792" y="3026664"/>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Description</a:t>
            </a:r>
            <a:endParaRPr lang="en-US" sz="1250" dirty="0"/>
          </a:p>
        </p:txBody>
      </p:sp>
      <p:sp>
        <p:nvSpPr>
          <p:cNvPr id="17" name="Shape 15"/>
          <p:cNvSpPr/>
          <p:nvPr/>
        </p:nvSpPr>
        <p:spPr>
          <a:xfrm>
            <a:off x="2798064" y="3026664"/>
            <a:ext cx="2139696" cy="960120"/>
          </a:xfrm>
          <a:prstGeom prst="roundRect">
            <a:avLst>
              <a:gd name="adj" fmla="val 6667"/>
            </a:avLst>
          </a:prstGeom>
          <a:solidFill>
            <a:srgbClr val="EEF1EA"/>
          </a:solidFill>
          <a:ln w="12700">
            <a:solidFill>
              <a:srgbClr val="D7DDD0"/>
            </a:solidFill>
            <a:prstDash val="solid"/>
          </a:ln>
        </p:spPr>
      </p:sp>
      <p:sp>
        <p:nvSpPr>
          <p:cNvPr id="18" name="Text 16"/>
          <p:cNvSpPr txBox="1"/>
          <p:nvPr/>
        </p:nvSpPr>
        <p:spPr>
          <a:xfrm>
            <a:off x="2871216" y="3026664"/>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Highlights</a:t>
            </a:r>
            <a:endParaRPr lang="en-US" sz="1250" dirty="0"/>
          </a:p>
        </p:txBody>
      </p:sp>
      <p:sp>
        <p:nvSpPr>
          <p:cNvPr id="19" name="Shape 17"/>
          <p:cNvSpPr/>
          <p:nvPr/>
        </p:nvSpPr>
        <p:spPr>
          <a:xfrm>
            <a:off x="5047488" y="3026664"/>
            <a:ext cx="2139696" cy="960120"/>
          </a:xfrm>
          <a:prstGeom prst="roundRect">
            <a:avLst>
              <a:gd name="adj" fmla="val 6667"/>
            </a:avLst>
          </a:prstGeom>
          <a:solidFill>
            <a:srgbClr val="EEF1EA"/>
          </a:solidFill>
          <a:ln w="12700">
            <a:solidFill>
              <a:srgbClr val="D7DDD0"/>
            </a:solidFill>
            <a:prstDash val="solid"/>
          </a:ln>
        </p:spPr>
      </p:sp>
      <p:sp>
        <p:nvSpPr>
          <p:cNvPr id="20" name="Text 18"/>
          <p:cNvSpPr txBox="1"/>
          <p:nvPr/>
        </p:nvSpPr>
        <p:spPr>
          <a:xfrm>
            <a:off x="5120640" y="3026664"/>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Images</a:t>
            </a:r>
            <a:endParaRPr lang="en-US" sz="1250" dirty="0"/>
          </a:p>
        </p:txBody>
      </p:sp>
      <p:sp>
        <p:nvSpPr>
          <p:cNvPr id="21" name="Shape 19"/>
          <p:cNvSpPr/>
          <p:nvPr/>
        </p:nvSpPr>
        <p:spPr>
          <a:xfrm>
            <a:off x="7296912" y="3026664"/>
            <a:ext cx="2139696" cy="960120"/>
          </a:xfrm>
          <a:prstGeom prst="roundRect">
            <a:avLst>
              <a:gd name="adj" fmla="val 6667"/>
            </a:avLst>
          </a:prstGeom>
          <a:solidFill>
            <a:srgbClr val="EEF1EA"/>
          </a:solidFill>
          <a:ln w="12700">
            <a:solidFill>
              <a:srgbClr val="D7DDD0"/>
            </a:solidFill>
            <a:prstDash val="solid"/>
          </a:ln>
        </p:spPr>
      </p:sp>
      <p:sp>
        <p:nvSpPr>
          <p:cNvPr id="22" name="Text 20"/>
          <p:cNvSpPr txBox="1"/>
          <p:nvPr/>
        </p:nvSpPr>
        <p:spPr>
          <a:xfrm>
            <a:off x="7370064" y="3026664"/>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Post to Website</a:t>
            </a:r>
            <a:endParaRPr lang="en-US" sz="1250" dirty="0"/>
          </a:p>
        </p:txBody>
      </p:sp>
      <p:sp>
        <p:nvSpPr>
          <p:cNvPr id="23" name="Shape 21"/>
          <p:cNvSpPr/>
          <p:nvPr/>
        </p:nvSpPr>
        <p:spPr>
          <a:xfrm>
            <a:off x="9546336" y="3026664"/>
            <a:ext cx="2139696" cy="960120"/>
          </a:xfrm>
          <a:prstGeom prst="roundRect">
            <a:avLst>
              <a:gd name="adj" fmla="val 6667"/>
            </a:avLst>
          </a:prstGeom>
          <a:solidFill>
            <a:srgbClr val="EEF1EA"/>
          </a:solidFill>
          <a:ln w="12700">
            <a:solidFill>
              <a:srgbClr val="D7DDD0"/>
            </a:solidFill>
            <a:prstDash val="solid"/>
          </a:ln>
        </p:spPr>
      </p:sp>
      <p:sp>
        <p:nvSpPr>
          <p:cNvPr id="24" name="Text 22"/>
          <p:cNvSpPr txBox="1"/>
          <p:nvPr/>
        </p:nvSpPr>
        <p:spPr>
          <a:xfrm>
            <a:off x="9619488" y="3026664"/>
            <a:ext cx="1993392" cy="960120"/>
          </a:xfrm>
          <a:prstGeom prst="rect">
            <a:avLst/>
          </a:prstGeom>
          <a:noFill/>
          <a:ln/>
        </p:spPr>
        <p:txBody>
          <a:bodyPr wrap="square" lIns="0" tIns="0" rIns="0" bIns="0" rtlCol="0" anchor="ctr"/>
          <a:lstStyle/>
          <a:p>
            <a:pPr algn="ctr" indent="0" marL="0">
              <a:buNone/>
            </a:pPr>
            <a:r>
              <a:rPr lang="en-US" sz="1250" b="1" dirty="0">
                <a:solidFill>
                  <a:srgbClr val="24352A"/>
                </a:solidFill>
                <a:latin typeface="Calibri" pitchFamily="34" charset="0"/>
                <a:ea typeface="Calibri" pitchFamily="34" charset="-122"/>
                <a:cs typeface="Calibri" pitchFamily="34" charset="-120"/>
              </a:rPr>
              <a:t>Product Key</a:t>
            </a:r>
            <a:endParaRPr lang="en-US" sz="1250" dirty="0"/>
          </a:p>
        </p:txBody>
      </p:sp>
      <p:sp>
        <p:nvSpPr>
          <p:cNvPr id="25" name="Shape 23"/>
          <p:cNvSpPr/>
          <p:nvPr/>
        </p:nvSpPr>
        <p:spPr>
          <a:xfrm>
            <a:off x="548640" y="4160520"/>
            <a:ext cx="11064240" cy="1600200"/>
          </a:xfrm>
          <a:prstGeom prst="roundRect">
            <a:avLst>
              <a:gd name="adj" fmla="val 4571"/>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6" name="Shape 24"/>
          <p:cNvSpPr/>
          <p:nvPr/>
        </p:nvSpPr>
        <p:spPr>
          <a:xfrm>
            <a:off x="749808" y="4361688"/>
            <a:ext cx="310896" cy="310896"/>
          </a:xfrm>
          <a:prstGeom prst="ellipse">
            <a:avLst/>
          </a:prstGeom>
          <a:solidFill>
            <a:srgbClr val="C14A26"/>
          </a:solidFill>
          <a:ln/>
        </p:spPr>
      </p:sp>
      <p:sp>
        <p:nvSpPr>
          <p:cNvPr id="27" name="Text 25"/>
          <p:cNvSpPr txBox="1"/>
          <p:nvPr/>
        </p:nvSpPr>
        <p:spPr>
          <a:xfrm>
            <a:off x="749808" y="43616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1188720" y="432511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Why this is different from raw inventory</a:t>
            </a:r>
            <a:endParaRPr lang="en-US" sz="1500" dirty="0"/>
          </a:p>
        </p:txBody>
      </p:sp>
      <p:sp>
        <p:nvSpPr>
          <p:cNvPr id="29" name="Text 27"/>
          <p:cNvSpPr txBox="1"/>
          <p:nvPr/>
        </p:nvSpPr>
        <p:spPr>
          <a:xfrm>
            <a:off x="804672" y="4727448"/>
            <a:ext cx="10552176" cy="86868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Product Inventory only ever describes what a retailer currently sells. Product Catalog is the only layer that carries a permanent identity (Product Key) and customer-facing content that survives after a product is no longer sourced anywhere — a retired product's description, images, and history stay intact here even after the retailer relationship ends.</a:t>
            </a:r>
            <a:endParaRPr lang="en-US" sz="1200" dirty="0"/>
          </a:p>
        </p:txBody>
      </p:sp>
      <p:sp>
        <p:nvSpPr>
          <p:cNvPr id="30" name="Text 28"/>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050" i="1" dirty="0">
                <a:solidFill>
                  <a:srgbClr val="667061"/>
                </a:solidFill>
                <a:latin typeface="Calibri" pitchFamily="34" charset="0"/>
                <a:ea typeface="Calibri" pitchFamily="34" charset="-122"/>
                <a:cs typeface="Calibri" pitchFamily="34" charset="-120"/>
              </a:rPr>
              <a:t>Fields shown are verified directly from CATALOG_COLUMNS in Config.js.</a:t>
            </a:r>
            <a:endParaRPr lang="en-US" sz="1050" dirty="0"/>
          </a:p>
        </p:txBody>
      </p:sp>
      <p:sp>
        <p:nvSpPr>
          <p:cNvPr id="31" name="Text 29"/>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8</a:t>
            </a:r>
            <a:endParaRPr lang="en-US" sz="1000" dirty="0"/>
          </a:p>
        </p:txBody>
      </p:sp>
      <p:sp>
        <p:nvSpPr>
          <p:cNvPr id="32" name="Text 3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IDENTITY</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 Identity — The Permanent Fingerprint</a:t>
            </a:r>
            <a:endParaRPr lang="en-US" sz="3000" dirty="0"/>
          </a:p>
        </p:txBody>
      </p:sp>
      <p:sp>
        <p:nvSpPr>
          <p:cNvPr id="4" name="Shape 2"/>
          <p:cNvSpPr/>
          <p:nvPr/>
        </p:nvSpPr>
        <p:spPr>
          <a:xfrm>
            <a:off x="548640" y="1234440"/>
            <a:ext cx="3566160" cy="1920240"/>
          </a:xfrm>
          <a:prstGeom prst="roundRect">
            <a:avLst>
              <a:gd name="adj" fmla="val 381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Product Key</a:t>
            </a:r>
            <a:endParaRPr lang="en-US" sz="1500" dirty="0"/>
          </a:p>
        </p:txBody>
      </p:sp>
      <p:sp>
        <p:nvSpPr>
          <p:cNvPr id="8" name="Text 6"/>
          <p:cNvSpPr txBox="1"/>
          <p:nvPr/>
        </p:nvSpPr>
        <p:spPr>
          <a:xfrm>
            <a:off x="804672" y="1801368"/>
            <a:ext cx="3054096" cy="11887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Permanent. Set once, never changed again — even if the retailer/SKU changes later.</a:t>
            </a:r>
            <a:endParaRPr lang="en-US" sz="1200" dirty="0"/>
          </a:p>
          <a:p>
            <a:pPr indent="0" marL="0">
              <a:lnSpc>
                <a:spcPct val="112000"/>
              </a:lnSpc>
              <a:buNone/>
            </a:pP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Example: LEG-HD-001515</a:t>
            </a:r>
            <a:endParaRPr lang="en-US" sz="1200" dirty="0"/>
          </a:p>
        </p:txBody>
      </p:sp>
      <p:sp>
        <p:nvSpPr>
          <p:cNvPr id="9" name="Shape 7"/>
          <p:cNvSpPr/>
          <p:nvPr/>
        </p:nvSpPr>
        <p:spPr>
          <a:xfrm>
            <a:off x="4325112" y="1234440"/>
            <a:ext cx="3566160" cy="1920240"/>
          </a:xfrm>
          <a:prstGeom prst="roundRect">
            <a:avLst>
              <a:gd name="adj" fmla="val 381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4526280" y="1435608"/>
            <a:ext cx="310896" cy="310896"/>
          </a:xfrm>
          <a:prstGeom prst="ellipse">
            <a:avLst/>
          </a:prstGeom>
          <a:solidFill>
            <a:srgbClr val="D9A441"/>
          </a:solidFill>
          <a:ln/>
        </p:spPr>
      </p:sp>
      <p:sp>
        <p:nvSpPr>
          <p:cNvPr id="11" name="Text 9"/>
          <p:cNvSpPr txBox="1"/>
          <p:nvPr/>
        </p:nvSpPr>
        <p:spPr>
          <a:xfrm>
            <a:off x="4526280"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965192"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Match Key</a:t>
            </a:r>
            <a:endParaRPr lang="en-US" sz="1500" dirty="0"/>
          </a:p>
        </p:txBody>
      </p:sp>
      <p:sp>
        <p:nvSpPr>
          <p:cNvPr id="13" name="Text 11"/>
          <p:cNvSpPr txBox="1"/>
          <p:nvPr/>
        </p:nvSpPr>
        <p:spPr>
          <a:xfrm>
            <a:off x="4581144" y="1801368"/>
            <a:ext cx="3054096" cy="11887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“Which Product Inventory row is this, right now.” Updated when a real retail SKU appears.</a:t>
            </a:r>
            <a:endParaRPr lang="en-US" sz="1200" dirty="0"/>
          </a:p>
        </p:txBody>
      </p:sp>
      <p:sp>
        <p:nvSpPr>
          <p:cNvPr id="14" name="Shape 12"/>
          <p:cNvSpPr/>
          <p:nvPr/>
        </p:nvSpPr>
        <p:spPr>
          <a:xfrm>
            <a:off x="8101584" y="1234440"/>
            <a:ext cx="3566160" cy="1920240"/>
          </a:xfrm>
          <a:prstGeom prst="roundRect">
            <a:avLst>
              <a:gd name="adj" fmla="val 381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5" name="Shape 13"/>
          <p:cNvSpPr/>
          <p:nvPr/>
        </p:nvSpPr>
        <p:spPr>
          <a:xfrm>
            <a:off x="8302752" y="1435608"/>
            <a:ext cx="310896" cy="310896"/>
          </a:xfrm>
          <a:prstGeom prst="ellipse">
            <a:avLst/>
          </a:prstGeom>
          <a:solidFill>
            <a:srgbClr val="C14A26"/>
          </a:solidFill>
          <a:ln/>
        </p:spPr>
      </p:sp>
      <p:sp>
        <p:nvSpPr>
          <p:cNvPr id="16" name="Text 14"/>
          <p:cNvSpPr txBox="1"/>
          <p:nvPr/>
        </p:nvSpPr>
        <p:spPr>
          <a:xfrm>
            <a:off x="8302752"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741664"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Product ID</a:t>
            </a:r>
            <a:endParaRPr lang="en-US" sz="1500" dirty="0"/>
          </a:p>
        </p:txBody>
      </p:sp>
      <p:sp>
        <p:nvSpPr>
          <p:cNvPr id="18" name="Text 16"/>
          <p:cNvSpPr txBox="1"/>
          <p:nvPr/>
        </p:nvSpPr>
        <p:spPr>
          <a:xfrm>
            <a:off x="8357616" y="1801368"/>
            <a:ext cx="3054096" cy="11887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Current retailer code + SKU. Refreshed whenever Product Inventory changes.</a:t>
            </a:r>
            <a:endParaRPr lang="en-US" sz="1200" dirty="0"/>
          </a:p>
          <a:p>
            <a:pPr indent="0" marL="0">
              <a:lnSpc>
                <a:spcPct val="112000"/>
              </a:lnSpc>
              <a:buNone/>
            </a:pP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Example: HD-1013910175</a:t>
            </a:r>
            <a:endParaRPr lang="en-US" sz="1200" dirty="0"/>
          </a:p>
        </p:txBody>
      </p:sp>
      <p:sp>
        <p:nvSpPr>
          <p:cNvPr id="19" name="Shape 17"/>
          <p:cNvSpPr/>
          <p:nvPr/>
        </p:nvSpPr>
        <p:spPr>
          <a:xfrm>
            <a:off x="548640" y="3383280"/>
            <a:ext cx="11064240" cy="2148840"/>
          </a:xfrm>
          <a:prstGeom prst="roundRect">
            <a:avLst>
              <a:gd name="adj" fmla="val 340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0" name="Shape 18"/>
          <p:cNvSpPr/>
          <p:nvPr/>
        </p:nvSpPr>
        <p:spPr>
          <a:xfrm>
            <a:off x="749808" y="3584448"/>
            <a:ext cx="310896" cy="310896"/>
          </a:xfrm>
          <a:prstGeom prst="ellipse">
            <a:avLst/>
          </a:prstGeom>
          <a:solidFill>
            <a:srgbClr val="C14A26"/>
          </a:solidFill>
          <a:ln/>
        </p:spPr>
      </p:sp>
      <p:sp>
        <p:nvSpPr>
          <p:cNvPr id="21" name="Text 19"/>
          <p:cNvSpPr txBox="1"/>
          <p:nvPr/>
        </p:nvSpPr>
        <p:spPr>
          <a:xfrm>
            <a:off x="749808" y="35844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188720" y="354787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Example — a legacy record gets a real SKU</a:t>
            </a:r>
            <a:endParaRPr lang="en-US" sz="1500" dirty="0"/>
          </a:p>
        </p:txBody>
      </p:sp>
      <p:sp>
        <p:nvSpPr>
          <p:cNvPr id="23" name="Text 21"/>
          <p:cNvSpPr txBox="1"/>
          <p:nvPr/>
        </p:nvSpPr>
        <p:spPr>
          <a:xfrm>
            <a:off x="804672" y="3950208"/>
            <a:ext cx="10552176" cy="14173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A product enters the catalog with no clean SKU yet → given permanent key LEG-HD-001515.</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Months later, a real Home Depot SKU is found for that same physical product.</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Match Key and Product ID update to the new SKU-based identity — but Product Key stays LEG-HD-001515 forever.</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Result: this specific legacy-to-real-SKU duplicate path is prevented when exactly one unambiguous match exists. Other duplicate scenarios are still caught separately, by the identity audit (see next slide).</a:t>
            </a:r>
            <a:endParaRPr lang="en-US" sz="1200" dirty="0"/>
          </a:p>
        </p:txBody>
      </p:sp>
      <p:sp>
        <p:nvSpPr>
          <p:cNvPr id="24" name="Text 2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9</a:t>
            </a:r>
            <a:endParaRPr lang="en-US" sz="1000" dirty="0"/>
          </a:p>
        </p:txBody>
      </p:sp>
      <p:sp>
        <p:nvSpPr>
          <p:cNvPr id="25" name="Text 2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AUTOMATION</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 Catalog Maintenance</a:t>
            </a:r>
            <a:endParaRPr lang="en-US" sz="3000" dirty="0"/>
          </a:p>
        </p:txBody>
      </p:sp>
      <p:sp>
        <p:nvSpPr>
          <p:cNvPr id="4" name="Shape 2"/>
          <p:cNvSpPr/>
          <p:nvPr/>
        </p:nvSpPr>
        <p:spPr>
          <a:xfrm>
            <a:off x="3566160" y="12344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5" name="Text 3"/>
          <p:cNvSpPr txBox="1"/>
          <p:nvPr/>
        </p:nvSpPr>
        <p:spPr>
          <a:xfrm>
            <a:off x="3703320" y="12344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1. Reconcile legacy identities</a:t>
            </a:r>
            <a:endParaRPr lang="en-US" sz="1250" dirty="0"/>
          </a:p>
        </p:txBody>
      </p:sp>
      <p:sp>
        <p:nvSpPr>
          <p:cNvPr id="6" name="Text 4"/>
          <p:cNvSpPr txBox="1"/>
          <p:nvPr/>
        </p:nvSpPr>
        <p:spPr>
          <a:xfrm>
            <a:off x="3703320" y="16002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reconcileLegacyCatalogRowsAutomatically_()</a:t>
            </a:r>
            <a:endParaRPr lang="en-US" sz="900" dirty="0"/>
          </a:p>
        </p:txBody>
      </p:sp>
      <p:sp>
        <p:nvSpPr>
          <p:cNvPr id="7" name="Shape 5"/>
          <p:cNvSpPr/>
          <p:nvPr/>
        </p:nvSpPr>
        <p:spPr>
          <a:xfrm>
            <a:off x="5998464" y="1819656"/>
            <a:ext cx="164592" cy="82296"/>
          </a:xfrm>
          <a:prstGeom prst="downArrow">
            <a:avLst/>
          </a:prstGeom>
          <a:solidFill>
            <a:srgbClr val="667061"/>
          </a:solidFill>
          <a:ln/>
        </p:spPr>
      </p:sp>
      <p:sp>
        <p:nvSpPr>
          <p:cNvPr id="8" name="Shape 6"/>
          <p:cNvSpPr/>
          <p:nvPr/>
        </p:nvSpPr>
        <p:spPr>
          <a:xfrm>
            <a:off x="3566160" y="19202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9" name="Text 7"/>
          <p:cNvSpPr txBox="1"/>
          <p:nvPr/>
        </p:nvSpPr>
        <p:spPr>
          <a:xfrm>
            <a:off x="3703320" y="19202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2. Add genuinely new keys</a:t>
            </a:r>
            <a:endParaRPr lang="en-US" sz="1250" dirty="0"/>
          </a:p>
        </p:txBody>
      </p:sp>
      <p:sp>
        <p:nvSpPr>
          <p:cNvPr id="10" name="Text 8"/>
          <p:cNvSpPr txBox="1"/>
          <p:nvPr/>
        </p:nvSpPr>
        <p:spPr>
          <a:xfrm>
            <a:off x="3703320" y="22860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syncProductCatalogKeys()</a:t>
            </a:r>
            <a:endParaRPr lang="en-US" sz="900" dirty="0"/>
          </a:p>
        </p:txBody>
      </p:sp>
      <p:sp>
        <p:nvSpPr>
          <p:cNvPr id="11" name="Shape 9"/>
          <p:cNvSpPr/>
          <p:nvPr/>
        </p:nvSpPr>
        <p:spPr>
          <a:xfrm>
            <a:off x="5998464" y="2505456"/>
            <a:ext cx="164592" cy="82296"/>
          </a:xfrm>
          <a:prstGeom prst="downArrow">
            <a:avLst/>
          </a:prstGeom>
          <a:solidFill>
            <a:srgbClr val="667061"/>
          </a:solidFill>
          <a:ln/>
        </p:spPr>
      </p:sp>
      <p:sp>
        <p:nvSpPr>
          <p:cNvPr id="12" name="Shape 10"/>
          <p:cNvSpPr/>
          <p:nvPr/>
        </p:nvSpPr>
        <p:spPr>
          <a:xfrm>
            <a:off x="3566160" y="26060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13" name="Text 11"/>
          <p:cNvSpPr txBox="1"/>
          <p:nvPr/>
        </p:nvSpPr>
        <p:spPr>
          <a:xfrm>
            <a:off x="3703320" y="26060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3. Ensure Auto Box Price formulas</a:t>
            </a:r>
            <a:endParaRPr lang="en-US" sz="1250" dirty="0"/>
          </a:p>
        </p:txBody>
      </p:sp>
      <p:sp>
        <p:nvSpPr>
          <p:cNvPr id="14" name="Text 12"/>
          <p:cNvSpPr txBox="1"/>
          <p:nvPr/>
        </p:nvSpPr>
        <p:spPr>
          <a:xfrm>
            <a:off x="3703320" y="29718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ensureProductCatalogAutoBoxPriceFormulas_()</a:t>
            </a:r>
            <a:endParaRPr lang="en-US" sz="900" dirty="0"/>
          </a:p>
        </p:txBody>
      </p:sp>
      <p:sp>
        <p:nvSpPr>
          <p:cNvPr id="15" name="Shape 13"/>
          <p:cNvSpPr/>
          <p:nvPr/>
        </p:nvSpPr>
        <p:spPr>
          <a:xfrm>
            <a:off x="5998464" y="3191256"/>
            <a:ext cx="164592" cy="82296"/>
          </a:xfrm>
          <a:prstGeom prst="downArrow">
            <a:avLst/>
          </a:prstGeom>
          <a:solidFill>
            <a:srgbClr val="667061"/>
          </a:solidFill>
          <a:ln/>
        </p:spPr>
      </p:sp>
      <p:sp>
        <p:nvSpPr>
          <p:cNvPr id="16" name="Shape 14"/>
          <p:cNvSpPr/>
          <p:nvPr/>
        </p:nvSpPr>
        <p:spPr>
          <a:xfrm>
            <a:off x="3566160" y="32918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17" name="Text 15"/>
          <p:cNvSpPr txBox="1"/>
          <p:nvPr/>
        </p:nvSpPr>
        <p:spPr>
          <a:xfrm>
            <a:off x="3703320" y="32918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4. Refresh source fields</a:t>
            </a:r>
            <a:endParaRPr lang="en-US" sz="1250" dirty="0"/>
          </a:p>
        </p:txBody>
      </p:sp>
      <p:sp>
        <p:nvSpPr>
          <p:cNvPr id="18" name="Text 16"/>
          <p:cNvSpPr txBox="1"/>
          <p:nvPr/>
        </p:nvSpPr>
        <p:spPr>
          <a:xfrm>
            <a:off x="3703320" y="36576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refreshProductCatalogSourceFields()</a:t>
            </a:r>
            <a:endParaRPr lang="en-US" sz="900" dirty="0"/>
          </a:p>
        </p:txBody>
      </p:sp>
      <p:sp>
        <p:nvSpPr>
          <p:cNvPr id="19" name="Shape 17"/>
          <p:cNvSpPr/>
          <p:nvPr/>
        </p:nvSpPr>
        <p:spPr>
          <a:xfrm>
            <a:off x="5998464" y="3877056"/>
            <a:ext cx="164592" cy="82296"/>
          </a:xfrm>
          <a:prstGeom prst="downArrow">
            <a:avLst/>
          </a:prstGeom>
          <a:solidFill>
            <a:srgbClr val="667061"/>
          </a:solidFill>
          <a:ln/>
        </p:spPr>
      </p:sp>
      <p:sp>
        <p:nvSpPr>
          <p:cNvPr id="20" name="Shape 18"/>
          <p:cNvSpPr/>
          <p:nvPr/>
        </p:nvSpPr>
        <p:spPr>
          <a:xfrm>
            <a:off x="3566160" y="39776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21" name="Text 19"/>
          <p:cNvSpPr txBox="1"/>
          <p:nvPr/>
        </p:nvSpPr>
        <p:spPr>
          <a:xfrm>
            <a:off x="3703320" y="39776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5. Flush writes</a:t>
            </a:r>
            <a:endParaRPr lang="en-US" sz="1250" dirty="0"/>
          </a:p>
        </p:txBody>
      </p:sp>
      <p:sp>
        <p:nvSpPr>
          <p:cNvPr id="22" name="Text 20"/>
          <p:cNvSpPr txBox="1"/>
          <p:nvPr/>
        </p:nvSpPr>
        <p:spPr>
          <a:xfrm>
            <a:off x="3703320" y="43434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SpreadsheetApp.flush()</a:t>
            </a:r>
            <a:endParaRPr lang="en-US" sz="900" dirty="0"/>
          </a:p>
        </p:txBody>
      </p:sp>
      <p:sp>
        <p:nvSpPr>
          <p:cNvPr id="23" name="Shape 21"/>
          <p:cNvSpPr/>
          <p:nvPr/>
        </p:nvSpPr>
        <p:spPr>
          <a:xfrm>
            <a:off x="5998464" y="4562856"/>
            <a:ext cx="164592" cy="82296"/>
          </a:xfrm>
          <a:prstGeom prst="downArrow">
            <a:avLst/>
          </a:prstGeom>
          <a:solidFill>
            <a:srgbClr val="667061"/>
          </a:solidFill>
          <a:ln/>
        </p:spPr>
      </p:sp>
      <p:sp>
        <p:nvSpPr>
          <p:cNvPr id="24" name="Shape 22"/>
          <p:cNvSpPr/>
          <p:nvPr/>
        </p:nvSpPr>
        <p:spPr>
          <a:xfrm>
            <a:off x="3566160" y="4663440"/>
            <a:ext cx="50292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25" name="Text 23"/>
          <p:cNvSpPr txBox="1"/>
          <p:nvPr/>
        </p:nvSpPr>
        <p:spPr>
          <a:xfrm>
            <a:off x="3703320" y="4663440"/>
            <a:ext cx="4754880" cy="420624"/>
          </a:xfrm>
          <a:prstGeom prst="rect">
            <a:avLst/>
          </a:prstGeom>
          <a:noFill/>
          <a:ln/>
        </p:spPr>
        <p:txBody>
          <a:bodyPr wrap="square" lIns="25400" tIns="25400" rIns="25400" bIns="2540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6. Audit for duplicates (hard-fail)</a:t>
            </a:r>
            <a:endParaRPr lang="en-US" sz="1250" dirty="0"/>
          </a:p>
        </p:txBody>
      </p:sp>
      <p:sp>
        <p:nvSpPr>
          <p:cNvPr id="26" name="Text 24"/>
          <p:cNvSpPr txBox="1"/>
          <p:nvPr/>
        </p:nvSpPr>
        <p:spPr>
          <a:xfrm>
            <a:off x="3703320" y="5029200"/>
            <a:ext cx="4754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auditProductCatalogDuplicateKeys()</a:t>
            </a:r>
            <a:endParaRPr lang="en-US" sz="900" dirty="0"/>
          </a:p>
        </p:txBody>
      </p:sp>
      <p:sp>
        <p:nvSpPr>
          <p:cNvPr id="27" name="Text 25"/>
          <p:cNvSpPr txBox="1"/>
          <p:nvPr/>
        </p:nvSpPr>
        <p:spPr>
          <a:xfrm>
            <a:off x="548640" y="6355080"/>
            <a:ext cx="11064240" cy="320040"/>
          </a:xfrm>
          <a:prstGeom prst="rect">
            <a:avLst/>
          </a:prstGeom>
          <a:noFill/>
          <a:ln/>
        </p:spPr>
        <p:txBody>
          <a:bodyPr wrap="square" lIns="0" tIns="0" rIns="0" bIns="0" rtlCol="0" anchor="ctr"/>
          <a:lstStyle/>
          <a:p>
            <a:pPr algn="ctr" indent="0" marL="0">
              <a:buNone/>
            </a:pPr>
            <a:r>
              <a:rPr lang="en-US" sz="1150" i="1" dirty="0">
                <a:solidFill>
                  <a:srgbClr val="667061"/>
                </a:solidFill>
                <a:latin typeface="Calibri" pitchFamily="34" charset="0"/>
                <a:ea typeface="Calibri" pitchFamily="34" charset="-122"/>
                <a:cs typeface="Calibri" pitchFamily="34" charset="-120"/>
              </a:rPr>
              <a:t>runProductCatalogMaintenance() — guarded by LockService so a scheduled and manual run can never collide.</a:t>
            </a:r>
            <a:endParaRPr lang="en-US" sz="1150" dirty="0"/>
          </a:p>
        </p:txBody>
      </p:sp>
      <p:sp>
        <p:nvSpPr>
          <p:cNvPr id="28" name="Text 26"/>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10</a:t>
            </a:r>
            <a:endParaRPr lang="en-US" sz="1000" dirty="0"/>
          </a:p>
        </p:txBody>
      </p:sp>
      <p:sp>
        <p:nvSpPr>
          <p:cNvPr id="29" name="Text 2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EXAMPLE</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Legacy Reconciliation</a:t>
            </a:r>
            <a:endParaRPr lang="en-US" sz="3000" dirty="0"/>
          </a:p>
        </p:txBody>
      </p:sp>
      <p:sp>
        <p:nvSpPr>
          <p:cNvPr id="4" name="Shape 2"/>
          <p:cNvSpPr/>
          <p:nvPr/>
        </p:nvSpPr>
        <p:spPr>
          <a:xfrm>
            <a:off x="548640" y="1234440"/>
            <a:ext cx="5394960" cy="1828800"/>
          </a:xfrm>
          <a:prstGeom prst="roundRect">
            <a:avLst>
              <a:gd name="adj" fmla="val 400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Old</a:t>
            </a:r>
            <a:endParaRPr lang="en-US" sz="1500" dirty="0"/>
          </a:p>
        </p:txBody>
      </p:sp>
      <p:sp>
        <p:nvSpPr>
          <p:cNvPr id="8" name="Text 6"/>
          <p:cNvSpPr txBox="1"/>
          <p:nvPr/>
        </p:nvSpPr>
        <p:spPr>
          <a:xfrm>
            <a:off x="804672" y="1801368"/>
            <a:ext cx="4882896" cy="1097280"/>
          </a:xfrm>
          <a:prstGeom prst="rect">
            <a:avLst/>
          </a:prstGeom>
          <a:noFill/>
          <a:ln/>
        </p:spPr>
        <p:txBody>
          <a:bodyPr wrap="square" lIns="0" tIns="0" rIns="0" bIns="0" rtlCol="0" anchor="t"/>
          <a:lstStyle/>
          <a:p>
            <a:pPr indent="0" marL="0">
              <a:lnSpc>
                <a:spcPct val="112000"/>
              </a:lnSpc>
              <a:buNone/>
            </a:pPr>
            <a:r>
              <a:rPr lang="en-US" sz="1400" dirty="0">
                <a:solidFill>
                  <a:srgbClr val="34493A"/>
                </a:solidFill>
                <a:latin typeface="Calibri" pitchFamily="34" charset="0"/>
                <a:ea typeface="Calibri" pitchFamily="34" charset="-122"/>
                <a:cs typeface="Calibri" pitchFamily="34" charset="-120"/>
              </a:rPr>
              <a:t>Product Key:  LEG-HD-001515</a:t>
            </a:r>
            <a:endParaRPr lang="en-US" sz="1400" dirty="0"/>
          </a:p>
          <a:p>
            <a:pPr indent="0" marL="0">
              <a:lnSpc>
                <a:spcPct val="112000"/>
              </a:lnSpc>
              <a:buNone/>
            </a:pPr>
            <a:r>
              <a:rPr lang="en-US" sz="1400" dirty="0">
                <a:solidFill>
                  <a:srgbClr val="34493A"/>
                </a:solidFill>
                <a:latin typeface="Calibri" pitchFamily="34" charset="0"/>
                <a:ea typeface="Calibri" pitchFamily="34" charset="-122"/>
                <a:cs typeface="Calibri" pitchFamily="34" charset="-120"/>
              </a:rPr>
              <a:t>(no clean retail SKU yet)</a:t>
            </a:r>
            <a:endParaRPr lang="en-US" sz="1400" dirty="0"/>
          </a:p>
        </p:txBody>
      </p:sp>
      <p:sp>
        <p:nvSpPr>
          <p:cNvPr id="9" name="Shape 7"/>
          <p:cNvSpPr/>
          <p:nvPr/>
        </p:nvSpPr>
        <p:spPr>
          <a:xfrm>
            <a:off x="5989320" y="1920240"/>
            <a:ext cx="640080" cy="457200"/>
          </a:xfrm>
          <a:prstGeom prst="rightArrow">
            <a:avLst/>
          </a:prstGeom>
          <a:solidFill>
            <a:srgbClr val="667061"/>
          </a:solidFill>
          <a:ln/>
        </p:spPr>
      </p:sp>
      <p:sp>
        <p:nvSpPr>
          <p:cNvPr id="10" name="Shape 8"/>
          <p:cNvSpPr/>
          <p:nvPr/>
        </p:nvSpPr>
        <p:spPr>
          <a:xfrm>
            <a:off x="6766560" y="1234440"/>
            <a:ext cx="4892040" cy="1828800"/>
          </a:xfrm>
          <a:prstGeom prst="roundRect">
            <a:avLst>
              <a:gd name="adj" fmla="val 400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1" name="Shape 9"/>
          <p:cNvSpPr/>
          <p:nvPr/>
        </p:nvSpPr>
        <p:spPr>
          <a:xfrm>
            <a:off x="6967728" y="1435608"/>
            <a:ext cx="310896" cy="310896"/>
          </a:xfrm>
          <a:prstGeom prst="ellipse">
            <a:avLst/>
          </a:prstGeom>
          <a:solidFill>
            <a:srgbClr val="D9A441"/>
          </a:solidFill>
          <a:ln/>
        </p:spPr>
      </p:sp>
      <p:sp>
        <p:nvSpPr>
          <p:cNvPr id="12" name="Text 10"/>
          <p:cNvSpPr txBox="1"/>
          <p:nvPr/>
        </p:nvSpPr>
        <p:spPr>
          <a:xfrm>
            <a:off x="696772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406640" y="1399032"/>
            <a:ext cx="40690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Later</a:t>
            </a:r>
            <a:endParaRPr lang="en-US" sz="1500" dirty="0"/>
          </a:p>
        </p:txBody>
      </p:sp>
      <p:sp>
        <p:nvSpPr>
          <p:cNvPr id="14" name="Text 12"/>
          <p:cNvSpPr txBox="1"/>
          <p:nvPr/>
        </p:nvSpPr>
        <p:spPr>
          <a:xfrm>
            <a:off x="7022592" y="1801368"/>
            <a:ext cx="4379976" cy="1097280"/>
          </a:xfrm>
          <a:prstGeom prst="rect">
            <a:avLst/>
          </a:prstGeom>
          <a:noFill/>
          <a:ln/>
        </p:spPr>
        <p:txBody>
          <a:bodyPr wrap="square" lIns="0" tIns="0" rIns="0" bIns="0" rtlCol="0" anchor="t"/>
          <a:lstStyle/>
          <a:p>
            <a:pPr indent="0" marL="0">
              <a:lnSpc>
                <a:spcPct val="112000"/>
              </a:lnSpc>
              <a:buNone/>
            </a:pPr>
            <a:r>
              <a:rPr lang="en-US" sz="1400" dirty="0">
                <a:solidFill>
                  <a:srgbClr val="34493A"/>
                </a:solidFill>
                <a:latin typeface="Calibri" pitchFamily="34" charset="0"/>
                <a:ea typeface="Calibri" pitchFamily="34" charset="-122"/>
                <a:cs typeface="Calibri" pitchFamily="34" charset="-120"/>
              </a:rPr>
              <a:t>A real Home Depot SKU becomes available for the same physical product.</a:t>
            </a:r>
            <a:endParaRPr lang="en-US" sz="1400" dirty="0"/>
          </a:p>
        </p:txBody>
      </p:sp>
      <p:sp>
        <p:nvSpPr>
          <p:cNvPr id="15" name="Shape 13"/>
          <p:cNvSpPr/>
          <p:nvPr/>
        </p:nvSpPr>
        <p:spPr>
          <a:xfrm>
            <a:off x="548640" y="3383280"/>
            <a:ext cx="11064240" cy="2148840"/>
          </a:xfrm>
          <a:prstGeom prst="roundRect">
            <a:avLst>
              <a:gd name="adj" fmla="val 340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6" name="Shape 14"/>
          <p:cNvSpPr/>
          <p:nvPr/>
        </p:nvSpPr>
        <p:spPr>
          <a:xfrm>
            <a:off x="749808" y="3584448"/>
            <a:ext cx="310896" cy="310896"/>
          </a:xfrm>
          <a:prstGeom prst="ellipse">
            <a:avLst/>
          </a:prstGeom>
          <a:solidFill>
            <a:srgbClr val="C14A26"/>
          </a:solidFill>
          <a:ln/>
        </p:spPr>
      </p:sp>
      <p:sp>
        <p:nvSpPr>
          <p:cNvPr id="17" name="Text 15"/>
          <p:cNvSpPr txBox="1"/>
          <p:nvPr/>
        </p:nvSpPr>
        <p:spPr>
          <a:xfrm>
            <a:off x="749808" y="35844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1188720" y="354787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What actually changes vs. what never does</a:t>
            </a:r>
            <a:endParaRPr lang="en-US" sz="1500" dirty="0"/>
          </a:p>
        </p:txBody>
      </p:sp>
      <p:sp>
        <p:nvSpPr>
          <p:cNvPr id="19" name="Text 17"/>
          <p:cNvSpPr txBox="1"/>
          <p:nvPr/>
        </p:nvSpPr>
        <p:spPr>
          <a:xfrm>
            <a:off x="804672" y="3950208"/>
            <a:ext cx="10552176" cy="14173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Updated:  Match Key, Product ID, Retail SKU, Retailer, Source Item</a:t>
            </a: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Never changed:  the permanent Product Key (LEG-HD-001515 stays LEG-HD-001515)</a:t>
            </a:r>
            <a:endParaRPr lang="en-US" sz="1200" dirty="0"/>
          </a:p>
          <a:p>
            <a:pPr indent="0" marL="0">
              <a:lnSpc>
                <a:spcPct val="112000"/>
              </a:lnSpc>
              <a:buNone/>
            </a:pPr>
            <a:endParaRPr lang="en-US" sz="1200" dirty="0"/>
          </a:p>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Why this matters: permanent Product Key + legacy reconciliation prevents this specific legacy-to-real-SKU duplicate path — but only when exactly one unambiguous Product Inventory candidate exists (ambiguous or unmatched rows are skipped, never guessed). The identity audit remains the protection against other duplicate scenarios.</a:t>
            </a:r>
            <a:endParaRPr lang="en-US" sz="1200" dirty="0"/>
          </a:p>
        </p:txBody>
      </p:sp>
      <p:sp>
        <p:nvSpPr>
          <p:cNvPr id="20" name="Text 18"/>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11</a:t>
            </a:r>
            <a:endParaRPr lang="en-US" sz="1000" dirty="0"/>
          </a:p>
        </p:txBody>
      </p:sp>
      <p:sp>
        <p:nvSpPr>
          <p:cNvPr id="21" name="Text 1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PRICING</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Automatic Pricing — Auto Box Price</a:t>
            </a:r>
            <a:endParaRPr lang="en-US" sz="3000" dirty="0"/>
          </a:p>
        </p:txBody>
      </p:sp>
      <p:sp>
        <p:nvSpPr>
          <p:cNvPr id="4" name="Shape 2"/>
          <p:cNvSpPr/>
          <p:nvPr/>
        </p:nvSpPr>
        <p:spPr>
          <a:xfrm>
            <a:off x="548640" y="1234440"/>
            <a:ext cx="11064240" cy="1691640"/>
          </a:xfrm>
          <a:prstGeom prst="roundRect">
            <a:avLst>
              <a:gd name="adj" fmla="val 43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The formula (ensureProductCatalogAutoBoxPriceFormulas_)</a:t>
            </a:r>
            <a:endParaRPr lang="en-US" sz="1500" dirty="0"/>
          </a:p>
        </p:txBody>
      </p:sp>
      <p:sp>
        <p:nvSpPr>
          <p:cNvPr id="8" name="Text 6"/>
          <p:cNvSpPr txBox="1"/>
          <p:nvPr/>
        </p:nvSpPr>
        <p:spPr>
          <a:xfrm>
            <a:off x="804672" y="1801368"/>
            <a:ext cx="10552176" cy="9601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Sq Ft Per Unit  ×  Sell Price , then rounded based on the cents remainder:</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.00 → the whole dollar amount, unchanged  ·  .01–.74 → base whole dollar + $0.50  ·  .75–.99 → rounds up to the next whole dollar.</a:t>
            </a: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Blank if either input is blank. Existing formulas are never overwritten.</a:t>
            </a:r>
            <a:endParaRPr lang="en-US" sz="1250" dirty="0"/>
          </a:p>
        </p:txBody>
      </p:sp>
      <p:sp>
        <p:nvSpPr>
          <p:cNvPr id="9" name="Shape 7"/>
          <p:cNvSpPr/>
          <p:nvPr/>
        </p:nvSpPr>
        <p:spPr>
          <a:xfrm>
            <a:off x="548640" y="3154680"/>
            <a:ext cx="11064240" cy="2377440"/>
          </a:xfrm>
          <a:prstGeom prst="roundRect">
            <a:avLst>
              <a:gd name="adj" fmla="val 3077"/>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749808" y="3355848"/>
            <a:ext cx="310896" cy="310896"/>
          </a:xfrm>
          <a:prstGeom prst="ellipse">
            <a:avLst/>
          </a:prstGeom>
          <a:solidFill>
            <a:srgbClr val="C14A26"/>
          </a:solidFill>
          <a:ln/>
        </p:spPr>
      </p:sp>
      <p:sp>
        <p:nvSpPr>
          <p:cNvPr id="11" name="Text 9"/>
          <p:cNvSpPr txBox="1"/>
          <p:nvPr/>
        </p:nvSpPr>
        <p:spPr>
          <a:xfrm>
            <a:off x="749808" y="33558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12" name="Text 10"/>
          <p:cNvSpPr txBox="1"/>
          <p:nvPr/>
        </p:nvSpPr>
        <p:spPr>
          <a:xfrm>
            <a:off x="1188720" y="331927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Flooring vs. non-flooring — verified nuance</a:t>
            </a:r>
            <a:endParaRPr lang="en-US" sz="1500" dirty="0"/>
          </a:p>
        </p:txBody>
      </p:sp>
      <p:sp>
        <p:nvSpPr>
          <p:cNvPr id="13" name="Text 11"/>
          <p:cNvSpPr txBox="1"/>
          <p:nvPr/>
        </p:nvSpPr>
        <p:spPr>
          <a:xfrm>
            <a:off x="804672" y="3721608"/>
            <a:ext cx="10552176" cy="16459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There is no separate flooring/non-flooring branch in this formula — it runs identically for every row.</a:t>
            </a:r>
            <a:endParaRPr lang="en-US" sz="1250" dirty="0"/>
          </a:p>
          <a:p>
            <a:pPr indent="0" marL="0">
              <a:lnSpc>
                <a:spcPct val="112000"/>
              </a:lnSpc>
              <a:buNone/>
            </a:pP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The practical difference described elsewhere in this project comes from which rows have a non-blank Sq Ft Per Unit: flooring is priced per square foot and typically populates this field, so the formula naturally produces a box price for it; most non-flooring items leave it blank, so the formula naturally evaluates to blank.</a:t>
            </a:r>
            <a:endParaRPr lang="en-US" sz="1250" dirty="0"/>
          </a:p>
          <a:p>
            <a:pPr indent="0" marL="0">
              <a:lnSpc>
                <a:spcPct val="112000"/>
              </a:lnSpc>
              <a:buNone/>
            </a:pPr>
            <a:endParaRPr lang="en-US" sz="1250" dirty="0"/>
          </a:p>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This is a field-presence effect, not a coded category check — documented here exactly as the code behaves, not as a simplified story.</a:t>
            </a:r>
            <a:endParaRPr lang="en-US" sz="1250" dirty="0"/>
          </a:p>
        </p:txBody>
      </p:sp>
      <p:sp>
        <p:nvSpPr>
          <p:cNvPr id="14"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12</a:t>
            </a:r>
            <a:endParaRPr lang="en-US" sz="10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AI-ASSISTED CONTENT</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Gemini Product Enrichment</a:t>
            </a:r>
            <a:endParaRPr lang="en-US" sz="3000" dirty="0"/>
          </a:p>
        </p:txBody>
      </p:sp>
      <p:sp>
        <p:nvSpPr>
          <p:cNvPr id="4" name="Shape 2"/>
          <p:cNvSpPr/>
          <p:nvPr/>
        </p:nvSpPr>
        <p:spPr>
          <a:xfrm>
            <a:off x="3794760" y="1325880"/>
            <a:ext cx="4572000" cy="566928"/>
          </a:xfrm>
          <a:prstGeom prst="roundRect">
            <a:avLst>
              <a:gd name="adj" fmla="val 11290"/>
            </a:avLst>
          </a:prstGeom>
          <a:solidFill>
            <a:srgbClr val="24352A"/>
          </a:solidFill>
          <a:ln/>
          <a:effectLst>
            <a:outerShdw sx="100000" sy="100000" kx="0" ky="0" algn="bl" rotWithShape="0" blurRad="76200" dist="25400" dir="5400000">
              <a:srgbClr val="1B241B">
                <a:alpha val="18000"/>
              </a:srgbClr>
            </a:outerShdw>
          </a:effectLst>
        </p:spPr>
      </p:sp>
      <p:sp>
        <p:nvSpPr>
          <p:cNvPr id="5" name="Text 3"/>
          <p:cNvSpPr txBox="1"/>
          <p:nvPr/>
        </p:nvSpPr>
        <p:spPr>
          <a:xfrm>
            <a:off x="3931920" y="1325880"/>
            <a:ext cx="4297680" cy="56692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 missing customer-facing content</a:t>
            </a:r>
            <a:endParaRPr lang="en-US" sz="1300" dirty="0"/>
          </a:p>
        </p:txBody>
      </p:sp>
      <p:sp>
        <p:nvSpPr>
          <p:cNvPr id="6" name="Shape 4"/>
          <p:cNvSpPr/>
          <p:nvPr/>
        </p:nvSpPr>
        <p:spPr>
          <a:xfrm>
            <a:off x="5998464" y="1911096"/>
            <a:ext cx="164592" cy="182880"/>
          </a:xfrm>
          <a:prstGeom prst="downArrow">
            <a:avLst/>
          </a:prstGeom>
          <a:solidFill>
            <a:srgbClr val="667061"/>
          </a:solidFill>
          <a:ln/>
        </p:spPr>
      </p:sp>
      <p:sp>
        <p:nvSpPr>
          <p:cNvPr id="7" name="Shape 5"/>
          <p:cNvSpPr/>
          <p:nvPr/>
        </p:nvSpPr>
        <p:spPr>
          <a:xfrm>
            <a:off x="3794760" y="2112264"/>
            <a:ext cx="45720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8" name="Text 6"/>
          <p:cNvSpPr txBox="1"/>
          <p:nvPr/>
        </p:nvSpPr>
        <p:spPr>
          <a:xfrm>
            <a:off x="3931920" y="2112264"/>
            <a:ext cx="4297680" cy="56692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Gemini + Google Search grounding</a:t>
            </a:r>
            <a:endParaRPr lang="en-US" sz="1300" dirty="0"/>
          </a:p>
        </p:txBody>
      </p:sp>
      <p:sp>
        <p:nvSpPr>
          <p:cNvPr id="9" name="Shape 7"/>
          <p:cNvSpPr/>
          <p:nvPr/>
        </p:nvSpPr>
        <p:spPr>
          <a:xfrm>
            <a:off x="5998464" y="2697480"/>
            <a:ext cx="164592" cy="182880"/>
          </a:xfrm>
          <a:prstGeom prst="downArrow">
            <a:avLst/>
          </a:prstGeom>
          <a:solidFill>
            <a:srgbClr val="667061"/>
          </a:solidFill>
          <a:ln/>
        </p:spPr>
      </p:sp>
      <p:sp>
        <p:nvSpPr>
          <p:cNvPr id="10" name="Shape 8"/>
          <p:cNvSpPr/>
          <p:nvPr/>
        </p:nvSpPr>
        <p:spPr>
          <a:xfrm>
            <a:off x="3794760" y="2898648"/>
            <a:ext cx="45720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11" name="Text 9"/>
          <p:cNvSpPr txBox="1"/>
          <p:nvPr/>
        </p:nvSpPr>
        <p:spPr>
          <a:xfrm>
            <a:off x="3931920" y="2898648"/>
            <a:ext cx="4297680" cy="56692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Identity verification (exact match required)</a:t>
            </a:r>
            <a:endParaRPr lang="en-US" sz="1300" dirty="0"/>
          </a:p>
        </p:txBody>
      </p:sp>
      <p:sp>
        <p:nvSpPr>
          <p:cNvPr id="12" name="Shape 10"/>
          <p:cNvSpPr/>
          <p:nvPr/>
        </p:nvSpPr>
        <p:spPr>
          <a:xfrm>
            <a:off x="5998464" y="3483864"/>
            <a:ext cx="164592" cy="182880"/>
          </a:xfrm>
          <a:prstGeom prst="downArrow">
            <a:avLst/>
          </a:prstGeom>
          <a:solidFill>
            <a:srgbClr val="667061"/>
          </a:solidFill>
          <a:ln/>
        </p:spPr>
      </p:sp>
      <p:sp>
        <p:nvSpPr>
          <p:cNvPr id="13" name="Shape 11"/>
          <p:cNvSpPr/>
          <p:nvPr/>
        </p:nvSpPr>
        <p:spPr>
          <a:xfrm>
            <a:off x="3794760" y="3685032"/>
            <a:ext cx="4572000" cy="566928"/>
          </a:xfrm>
          <a:prstGeom prst="roundRect">
            <a:avLst>
              <a:gd name="adj" fmla="val 11290"/>
            </a:avLst>
          </a:prstGeom>
          <a:solidFill>
            <a:srgbClr val="D9A441"/>
          </a:solidFill>
          <a:ln/>
          <a:effectLst>
            <a:outerShdw sx="100000" sy="100000" kx="0" ky="0" algn="bl" rotWithShape="0" blurRad="76200" dist="25400" dir="5400000">
              <a:srgbClr val="1B241B">
                <a:alpha val="18000"/>
              </a:srgbClr>
            </a:outerShdw>
          </a:effectLst>
        </p:spPr>
      </p:sp>
      <p:sp>
        <p:nvSpPr>
          <p:cNvPr id="14" name="Text 12"/>
          <p:cNvSpPr txBox="1"/>
          <p:nvPr/>
        </p:nvSpPr>
        <p:spPr>
          <a:xfrm>
            <a:off x="3931920" y="3685032"/>
            <a:ext cx="4297680" cy="56692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Structured product information returned</a:t>
            </a:r>
            <a:endParaRPr lang="en-US" sz="1300" dirty="0"/>
          </a:p>
        </p:txBody>
      </p:sp>
      <p:sp>
        <p:nvSpPr>
          <p:cNvPr id="15" name="Shape 13"/>
          <p:cNvSpPr/>
          <p:nvPr/>
        </p:nvSpPr>
        <p:spPr>
          <a:xfrm>
            <a:off x="5998464" y="4270248"/>
            <a:ext cx="164592" cy="182880"/>
          </a:xfrm>
          <a:prstGeom prst="downArrow">
            <a:avLst/>
          </a:prstGeom>
          <a:solidFill>
            <a:srgbClr val="667061"/>
          </a:solidFill>
          <a:ln/>
        </p:spPr>
      </p:sp>
      <p:sp>
        <p:nvSpPr>
          <p:cNvPr id="16" name="Shape 14"/>
          <p:cNvSpPr/>
          <p:nvPr/>
        </p:nvSpPr>
        <p:spPr>
          <a:xfrm>
            <a:off x="3794760" y="4471416"/>
            <a:ext cx="4572000" cy="566928"/>
          </a:xfrm>
          <a:prstGeom prst="roundRect">
            <a:avLst>
              <a:gd name="adj" fmla="val 11290"/>
            </a:avLst>
          </a:prstGeom>
          <a:solidFill>
            <a:srgbClr val="C14A26"/>
          </a:solidFill>
          <a:ln/>
          <a:effectLst>
            <a:outerShdw sx="100000" sy="100000" kx="0" ky="0" algn="bl" rotWithShape="0" blurRad="76200" dist="25400" dir="5400000">
              <a:srgbClr val="1B241B">
                <a:alpha val="18000"/>
              </a:srgbClr>
            </a:outerShdw>
          </a:effectLst>
        </p:spPr>
      </p:sp>
      <p:sp>
        <p:nvSpPr>
          <p:cNvPr id="17" name="Text 15"/>
          <p:cNvSpPr txBox="1"/>
          <p:nvPr/>
        </p:nvSpPr>
        <p:spPr>
          <a:xfrm>
            <a:off x="3931920" y="4471416"/>
            <a:ext cx="4297680" cy="56692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Verified  ·  Needs Review  ·  Failed</a:t>
            </a:r>
            <a:endParaRPr lang="en-US" sz="1300" dirty="0"/>
          </a:p>
        </p:txBody>
      </p:sp>
      <p:sp>
        <p:nvSpPr>
          <p:cNvPr id="18" name="Shape 16"/>
          <p:cNvSpPr/>
          <p:nvPr/>
        </p:nvSpPr>
        <p:spPr>
          <a:xfrm>
            <a:off x="548640" y="1325880"/>
            <a:ext cx="3017520" cy="4297680"/>
          </a:xfrm>
          <a:prstGeom prst="roundRect">
            <a:avLst>
              <a:gd name="adj" fmla="val 24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9" name="Shape 17"/>
          <p:cNvSpPr/>
          <p:nvPr/>
        </p:nvSpPr>
        <p:spPr>
          <a:xfrm>
            <a:off x="749808" y="1527048"/>
            <a:ext cx="310896" cy="310896"/>
          </a:xfrm>
          <a:prstGeom prst="ellipse">
            <a:avLst/>
          </a:prstGeom>
          <a:solidFill>
            <a:srgbClr val="D9A441"/>
          </a:solidFill>
          <a:ln/>
        </p:spPr>
      </p:sp>
      <p:sp>
        <p:nvSpPr>
          <p:cNvPr id="20" name="Text 18"/>
          <p:cNvSpPr txBox="1"/>
          <p:nvPr/>
        </p:nvSpPr>
        <p:spPr>
          <a:xfrm>
            <a:off x="749808" y="1527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1188720" y="1490472"/>
            <a:ext cx="219456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Runs under a lock</a:t>
            </a:r>
            <a:endParaRPr lang="en-US" sz="1500" dirty="0"/>
          </a:p>
        </p:txBody>
      </p:sp>
      <p:sp>
        <p:nvSpPr>
          <p:cNvPr id="22" name="Text 20"/>
          <p:cNvSpPr txBox="1"/>
          <p:nvPr/>
        </p:nvSpPr>
        <p:spPr>
          <a:xfrm>
            <a:off x="804672" y="1892808"/>
            <a:ext cx="2505456" cy="356616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Uses getScriptLock().tryLock() and will wait up to 30 seconds to acquire the lock. Only if it still cannot acquire the lock after waiting does this run fail, rather than running concurrently with another active enrichment run.</a:t>
            </a:r>
            <a:endParaRPr lang="en-US" sz="1150" dirty="0"/>
          </a:p>
        </p:txBody>
      </p:sp>
      <p:sp>
        <p:nvSpPr>
          <p:cNvPr id="23" name="Shape 21"/>
          <p:cNvSpPr/>
          <p:nvPr/>
        </p:nvSpPr>
        <p:spPr>
          <a:xfrm>
            <a:off x="8595360" y="1325880"/>
            <a:ext cx="3017520" cy="4297680"/>
          </a:xfrm>
          <a:prstGeom prst="roundRect">
            <a:avLst>
              <a:gd name="adj" fmla="val 24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4" name="Shape 22"/>
          <p:cNvSpPr/>
          <p:nvPr/>
        </p:nvSpPr>
        <p:spPr>
          <a:xfrm>
            <a:off x="8796528" y="1527048"/>
            <a:ext cx="310896" cy="310896"/>
          </a:xfrm>
          <a:prstGeom prst="ellipse">
            <a:avLst/>
          </a:prstGeom>
          <a:solidFill>
            <a:srgbClr val="C14A26"/>
          </a:solidFill>
          <a:ln/>
        </p:spPr>
      </p:sp>
      <p:sp>
        <p:nvSpPr>
          <p:cNvPr id="25" name="Text 23"/>
          <p:cNvSpPr txBox="1"/>
          <p:nvPr/>
        </p:nvSpPr>
        <p:spPr>
          <a:xfrm>
            <a:off x="8796528" y="1527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9235440" y="1490472"/>
            <a:ext cx="219456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Batch size</a:t>
            </a:r>
            <a:endParaRPr lang="en-US" sz="1500" dirty="0"/>
          </a:p>
        </p:txBody>
      </p:sp>
      <p:sp>
        <p:nvSpPr>
          <p:cNvPr id="27" name="Text 25"/>
          <p:cNvSpPr txBox="1"/>
          <p:nvPr/>
        </p:nvSpPr>
        <p:spPr>
          <a:xfrm>
            <a:off x="8851392" y="1892808"/>
            <a:ext cx="2505456" cy="356616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Up to 5 catalog rows processed per invocation (ENRICHMENT_CONFIG.BATCH_SIZE) — a deliberately small, steady pace rather than a bulk rewrite.</a:t>
            </a:r>
            <a:endParaRPr lang="en-US" sz="1200" dirty="0"/>
          </a:p>
        </p:txBody>
      </p:sp>
      <p:sp>
        <p:nvSpPr>
          <p:cNvPr id="28" name="Text 26"/>
          <p:cNvSpPr txBox="1"/>
          <p:nvPr/>
        </p:nvSpPr>
        <p:spPr>
          <a:xfrm>
            <a:off x="548640" y="6355080"/>
            <a:ext cx="11064240" cy="320040"/>
          </a:xfrm>
          <a:prstGeom prst="rect">
            <a:avLst/>
          </a:prstGeom>
          <a:noFill/>
          <a:ln/>
        </p:spPr>
        <p:txBody>
          <a:bodyPr wrap="square" lIns="0" tIns="0" rIns="0" bIns="0" rtlCol="0" anchor="ctr"/>
          <a:lstStyle/>
          <a:p>
            <a:pPr algn="ctr" indent="0" marL="0">
              <a:buNone/>
            </a:pPr>
            <a:r>
              <a:rPr lang="en-US" sz="1150" i="1" dirty="0">
                <a:solidFill>
                  <a:srgbClr val="667061"/>
                </a:solidFill>
                <a:latin typeface="Calibri" pitchFamily="34" charset="0"/>
                <a:ea typeface="Calibri" pitchFamily="34" charset="-122"/>
                <a:cs typeface="Calibri" pitchFamily="34" charset="-120"/>
              </a:rPr>
              <a:t>Existing content is never overwritten — applyCatalogEnrichmentResult_() only fills fields that are currently blank.</a:t>
            </a:r>
            <a:endParaRPr lang="en-US" sz="1150" dirty="0"/>
          </a:p>
        </p:txBody>
      </p:sp>
      <p:sp>
        <p:nvSpPr>
          <p:cNvPr id="29" name="Text 27"/>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13</a:t>
            </a:r>
            <a:endParaRPr lang="en-US" sz="1000" dirty="0"/>
          </a:p>
        </p:txBody>
      </p:sp>
      <p:sp>
        <p:nvSpPr>
          <p:cNvPr id="30" name="Text 2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GUARDRAILS</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What Gemini Is Allowed To Generate</a:t>
            </a:r>
            <a:endParaRPr lang="en-US" sz="3000" dirty="0"/>
          </a:p>
        </p:txBody>
      </p:sp>
      <p:sp>
        <p:nvSpPr>
          <p:cNvPr id="4" name="Text 2"/>
          <p:cNvSpPr txBox="1"/>
          <p:nvPr/>
        </p:nvSpPr>
        <p:spPr>
          <a:xfrm>
            <a:off x="548640" y="1325880"/>
            <a:ext cx="5212080" cy="411480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Short display name (35–60 chars, 70 hard cap)</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Exactly one approved broad website category</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Brand / model — SKU is never mistaken for a model number</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Two-sentence factual description</a:t>
            </a:r>
            <a:endParaRPr lang="en-US" sz="1350" dirty="0"/>
          </a:p>
        </p:txBody>
      </p:sp>
      <p:sp>
        <p:nvSpPr>
          <p:cNvPr id="5" name="Text 3"/>
          <p:cNvSpPr txBox="1"/>
          <p:nvPr/>
        </p:nvSpPr>
        <p:spPr>
          <a:xfrm>
            <a:off x="6309360" y="1325880"/>
            <a:ext cx="5120640" cy="411480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4–6 short highlights (≤45 chars each)</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Up to 3 Card Specs (≤24 chars each)</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Product URL</a:t>
            </a:r>
            <a:endParaRPr lang="en-US" sz="1350" dirty="0"/>
          </a:p>
          <a:p>
            <a:pPr marL="228600" indent="-228600">
              <a:lnSpc>
                <a:spcPct val="115000"/>
              </a:lnSpc>
              <a:spcAft>
                <a:spcPts val="1000"/>
              </a:spcAft>
              <a:buSzPct val="100000"/>
              <a:buChar char="▪"/>
            </a:pPr>
            <a:r>
              <a:rPr lang="en-US" sz="1350" dirty="0">
                <a:solidFill>
                  <a:srgbClr val="34493A"/>
                </a:solidFill>
                <a:latin typeface="Calibri" pitchFamily="34" charset="0"/>
                <a:ea typeface="Calibri" pitchFamily="34" charset="-122"/>
                <a:cs typeface="Calibri" pitchFamily="34" charset="-120"/>
              </a:rPr>
              <a:t>Stock image URL — only a verified direct image, never a bare retailer product page</a:t>
            </a:r>
            <a:endParaRPr lang="en-US" sz="1350" dirty="0"/>
          </a:p>
        </p:txBody>
      </p:sp>
      <p:sp>
        <p:nvSpPr>
          <p:cNvPr id="6" name="Shape 4"/>
          <p:cNvSpPr/>
          <p:nvPr/>
        </p:nvSpPr>
        <p:spPr>
          <a:xfrm>
            <a:off x="548640" y="4160520"/>
            <a:ext cx="11064240" cy="1737360"/>
          </a:xfrm>
          <a:prstGeom prst="roundRect">
            <a:avLst>
              <a:gd name="adj" fmla="val 4211"/>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7" name="Shape 5"/>
          <p:cNvSpPr/>
          <p:nvPr/>
        </p:nvSpPr>
        <p:spPr>
          <a:xfrm>
            <a:off x="749808" y="4361688"/>
            <a:ext cx="310896" cy="310896"/>
          </a:xfrm>
          <a:prstGeom prst="ellipse">
            <a:avLst/>
          </a:prstGeom>
          <a:solidFill>
            <a:srgbClr val="C14A26"/>
          </a:solidFill>
          <a:ln/>
        </p:spPr>
      </p:sp>
      <p:sp>
        <p:nvSpPr>
          <p:cNvPr id="8" name="Text 6"/>
          <p:cNvSpPr txBox="1"/>
          <p:nvPr/>
        </p:nvSpPr>
        <p:spPr>
          <a:xfrm>
            <a:off x="749808" y="43616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1188720" y="432511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The confidence gate</a:t>
            </a:r>
            <a:endParaRPr lang="en-US" sz="1500" dirty="0"/>
          </a:p>
        </p:txBody>
      </p:sp>
      <p:sp>
        <p:nvSpPr>
          <p:cNvPr id="10" name="Text 8"/>
          <p:cNvSpPr txBox="1"/>
          <p:nvPr/>
        </p:nvSpPr>
        <p:spPr>
          <a:xfrm>
            <a:off x="804672" y="4727448"/>
            <a:ext cx="10552176" cy="100584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Customer-facing fields are written ONLY when: match_status = EXACT, confidence = HIGH, at least one citation URL, and category + description + ≥4 highlights are all present. Anything short of that → “Needs Review,” nothing customer-facing is written. Website category is independently re-validated in code regardless of what the model returns — an invented category is always discarded.</a:t>
            </a:r>
            <a:endParaRPr lang="en-US" sz="1200" dirty="0"/>
          </a:p>
        </p:txBody>
      </p:sp>
      <p:sp>
        <p:nvSpPr>
          <p:cNvPr id="11" name="Text 9"/>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14</a:t>
            </a:r>
            <a:endParaRPr lang="en-US" sz="1000" dirty="0"/>
          </a:p>
        </p:txBody>
      </p:sp>
      <p:sp>
        <p:nvSpPr>
          <p:cNvPr id="12" name="Text 1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TAXONOMY</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Website Categories — The Approved List</a:t>
            </a:r>
            <a:endParaRPr lang="en-US" sz="3000" dirty="0"/>
          </a:p>
        </p:txBody>
      </p:sp>
      <p:sp>
        <p:nvSpPr>
          <p:cNvPr id="4" name="Shape 2"/>
          <p:cNvSpPr/>
          <p:nvPr/>
        </p:nvSpPr>
        <p:spPr>
          <a:xfrm>
            <a:off x="548640" y="1234440"/>
            <a:ext cx="2139696" cy="457200"/>
          </a:xfrm>
          <a:prstGeom prst="roundRect">
            <a:avLst>
              <a:gd name="adj" fmla="val 50000"/>
            </a:avLst>
          </a:prstGeom>
          <a:solidFill>
            <a:srgbClr val="C14A26"/>
          </a:solidFill>
          <a:ln/>
        </p:spPr>
      </p:sp>
      <p:sp>
        <p:nvSpPr>
          <p:cNvPr id="5" name="Text 3"/>
          <p:cNvSpPr txBox="1"/>
          <p:nvPr/>
        </p:nvSpPr>
        <p:spPr>
          <a:xfrm>
            <a:off x="603504" y="123444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Flooring</a:t>
            </a:r>
            <a:endParaRPr lang="en-US" sz="1100" dirty="0"/>
          </a:p>
        </p:txBody>
      </p:sp>
      <p:sp>
        <p:nvSpPr>
          <p:cNvPr id="6" name="Shape 4"/>
          <p:cNvSpPr/>
          <p:nvPr/>
        </p:nvSpPr>
        <p:spPr>
          <a:xfrm>
            <a:off x="2798064" y="1234440"/>
            <a:ext cx="2139696" cy="457200"/>
          </a:xfrm>
          <a:prstGeom prst="roundRect">
            <a:avLst>
              <a:gd name="adj" fmla="val 50000"/>
            </a:avLst>
          </a:prstGeom>
          <a:solidFill>
            <a:srgbClr val="C14A26"/>
          </a:solidFill>
          <a:ln/>
        </p:spPr>
      </p:sp>
      <p:sp>
        <p:nvSpPr>
          <p:cNvPr id="7" name="Text 5"/>
          <p:cNvSpPr txBox="1"/>
          <p:nvPr/>
        </p:nvSpPr>
        <p:spPr>
          <a:xfrm>
            <a:off x="2852928" y="123444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Water Heaters</a:t>
            </a:r>
            <a:endParaRPr lang="en-US" sz="1100" dirty="0"/>
          </a:p>
        </p:txBody>
      </p:sp>
      <p:sp>
        <p:nvSpPr>
          <p:cNvPr id="8" name="Shape 6"/>
          <p:cNvSpPr/>
          <p:nvPr/>
        </p:nvSpPr>
        <p:spPr>
          <a:xfrm>
            <a:off x="5047488" y="1234440"/>
            <a:ext cx="2139696" cy="457200"/>
          </a:xfrm>
          <a:prstGeom prst="roundRect">
            <a:avLst>
              <a:gd name="adj" fmla="val 50000"/>
            </a:avLst>
          </a:prstGeom>
          <a:solidFill>
            <a:srgbClr val="C14A26"/>
          </a:solidFill>
          <a:ln/>
        </p:spPr>
      </p:sp>
      <p:sp>
        <p:nvSpPr>
          <p:cNvPr id="9" name="Text 7"/>
          <p:cNvSpPr txBox="1"/>
          <p:nvPr/>
        </p:nvSpPr>
        <p:spPr>
          <a:xfrm>
            <a:off x="5102352" y="123444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Appliances</a:t>
            </a:r>
            <a:endParaRPr lang="en-US" sz="1100" dirty="0"/>
          </a:p>
        </p:txBody>
      </p:sp>
      <p:sp>
        <p:nvSpPr>
          <p:cNvPr id="10" name="Shape 8"/>
          <p:cNvSpPr/>
          <p:nvPr/>
        </p:nvSpPr>
        <p:spPr>
          <a:xfrm>
            <a:off x="7296912" y="1234440"/>
            <a:ext cx="2139696" cy="457200"/>
          </a:xfrm>
          <a:prstGeom prst="roundRect">
            <a:avLst>
              <a:gd name="adj" fmla="val 50000"/>
            </a:avLst>
          </a:prstGeom>
          <a:solidFill>
            <a:srgbClr val="C14A26"/>
          </a:solidFill>
          <a:ln/>
        </p:spPr>
      </p:sp>
      <p:sp>
        <p:nvSpPr>
          <p:cNvPr id="11" name="Text 9"/>
          <p:cNvSpPr txBox="1"/>
          <p:nvPr/>
        </p:nvSpPr>
        <p:spPr>
          <a:xfrm>
            <a:off x="7351776" y="123444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Plumbing &amp; Bath</a:t>
            </a:r>
            <a:endParaRPr lang="en-US" sz="1100" dirty="0"/>
          </a:p>
        </p:txBody>
      </p:sp>
      <p:sp>
        <p:nvSpPr>
          <p:cNvPr id="12" name="Shape 10"/>
          <p:cNvSpPr/>
          <p:nvPr/>
        </p:nvSpPr>
        <p:spPr>
          <a:xfrm>
            <a:off x="9546336" y="1234440"/>
            <a:ext cx="2139696" cy="457200"/>
          </a:xfrm>
          <a:prstGeom prst="roundRect">
            <a:avLst>
              <a:gd name="adj" fmla="val 50000"/>
            </a:avLst>
          </a:prstGeom>
          <a:solidFill>
            <a:srgbClr val="C14A26"/>
          </a:solidFill>
          <a:ln/>
        </p:spPr>
      </p:sp>
      <p:sp>
        <p:nvSpPr>
          <p:cNvPr id="13" name="Text 11"/>
          <p:cNvSpPr txBox="1"/>
          <p:nvPr/>
        </p:nvSpPr>
        <p:spPr>
          <a:xfrm>
            <a:off x="9601200" y="123444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Lawn &amp; Outdoor</a:t>
            </a:r>
            <a:endParaRPr lang="en-US" sz="1100" dirty="0"/>
          </a:p>
        </p:txBody>
      </p:sp>
      <p:sp>
        <p:nvSpPr>
          <p:cNvPr id="14" name="Shape 12"/>
          <p:cNvSpPr/>
          <p:nvPr/>
        </p:nvSpPr>
        <p:spPr>
          <a:xfrm>
            <a:off x="548640" y="1783080"/>
            <a:ext cx="2139696" cy="457200"/>
          </a:xfrm>
          <a:prstGeom prst="roundRect">
            <a:avLst>
              <a:gd name="adj" fmla="val 50000"/>
            </a:avLst>
          </a:prstGeom>
          <a:solidFill>
            <a:srgbClr val="C14A26"/>
          </a:solidFill>
          <a:ln/>
        </p:spPr>
      </p:sp>
      <p:sp>
        <p:nvSpPr>
          <p:cNvPr id="15" name="Text 13"/>
          <p:cNvSpPr txBox="1"/>
          <p:nvPr/>
        </p:nvSpPr>
        <p:spPr>
          <a:xfrm>
            <a:off x="603504" y="178308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Tools</a:t>
            </a:r>
            <a:endParaRPr lang="en-US" sz="1100" dirty="0"/>
          </a:p>
        </p:txBody>
      </p:sp>
      <p:sp>
        <p:nvSpPr>
          <p:cNvPr id="16" name="Shape 14"/>
          <p:cNvSpPr/>
          <p:nvPr/>
        </p:nvSpPr>
        <p:spPr>
          <a:xfrm>
            <a:off x="2798064" y="1783080"/>
            <a:ext cx="2139696" cy="457200"/>
          </a:xfrm>
          <a:prstGeom prst="roundRect">
            <a:avLst>
              <a:gd name="adj" fmla="val 50000"/>
            </a:avLst>
          </a:prstGeom>
          <a:solidFill>
            <a:srgbClr val="C14A26"/>
          </a:solidFill>
          <a:ln/>
        </p:spPr>
      </p:sp>
      <p:sp>
        <p:nvSpPr>
          <p:cNvPr id="17" name="Text 15"/>
          <p:cNvSpPr txBox="1"/>
          <p:nvPr/>
        </p:nvSpPr>
        <p:spPr>
          <a:xfrm>
            <a:off x="2852928" y="178308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Electrical &amp; Lighting</a:t>
            </a:r>
            <a:endParaRPr lang="en-US" sz="1100" dirty="0"/>
          </a:p>
        </p:txBody>
      </p:sp>
      <p:sp>
        <p:nvSpPr>
          <p:cNvPr id="18" name="Shape 16"/>
          <p:cNvSpPr/>
          <p:nvPr/>
        </p:nvSpPr>
        <p:spPr>
          <a:xfrm>
            <a:off x="5047488" y="1783080"/>
            <a:ext cx="2139696" cy="457200"/>
          </a:xfrm>
          <a:prstGeom prst="roundRect">
            <a:avLst>
              <a:gd name="adj" fmla="val 50000"/>
            </a:avLst>
          </a:prstGeom>
          <a:solidFill>
            <a:srgbClr val="C14A26"/>
          </a:solidFill>
          <a:ln/>
        </p:spPr>
      </p:sp>
      <p:sp>
        <p:nvSpPr>
          <p:cNvPr id="19" name="Text 17"/>
          <p:cNvSpPr txBox="1"/>
          <p:nvPr/>
        </p:nvSpPr>
        <p:spPr>
          <a:xfrm>
            <a:off x="5102352" y="178308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Electronics &amp; Smart Home</a:t>
            </a:r>
            <a:endParaRPr lang="en-US" sz="1100" dirty="0"/>
          </a:p>
        </p:txBody>
      </p:sp>
      <p:sp>
        <p:nvSpPr>
          <p:cNvPr id="20" name="Shape 18"/>
          <p:cNvSpPr/>
          <p:nvPr/>
        </p:nvSpPr>
        <p:spPr>
          <a:xfrm>
            <a:off x="7296912" y="1783080"/>
            <a:ext cx="2139696" cy="457200"/>
          </a:xfrm>
          <a:prstGeom prst="roundRect">
            <a:avLst>
              <a:gd name="adj" fmla="val 50000"/>
            </a:avLst>
          </a:prstGeom>
          <a:solidFill>
            <a:srgbClr val="C14A26"/>
          </a:solidFill>
          <a:ln/>
        </p:spPr>
      </p:sp>
      <p:sp>
        <p:nvSpPr>
          <p:cNvPr id="21" name="Text 19"/>
          <p:cNvSpPr txBox="1"/>
          <p:nvPr/>
        </p:nvSpPr>
        <p:spPr>
          <a:xfrm>
            <a:off x="7351776" y="178308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Paint &amp; Supplies</a:t>
            </a:r>
            <a:endParaRPr lang="en-US" sz="1100" dirty="0"/>
          </a:p>
        </p:txBody>
      </p:sp>
      <p:sp>
        <p:nvSpPr>
          <p:cNvPr id="22" name="Shape 20"/>
          <p:cNvSpPr/>
          <p:nvPr/>
        </p:nvSpPr>
        <p:spPr>
          <a:xfrm>
            <a:off x="9546336" y="1783080"/>
            <a:ext cx="2139696" cy="457200"/>
          </a:xfrm>
          <a:prstGeom prst="roundRect">
            <a:avLst>
              <a:gd name="adj" fmla="val 50000"/>
            </a:avLst>
          </a:prstGeom>
          <a:solidFill>
            <a:srgbClr val="C14A26"/>
          </a:solidFill>
          <a:ln/>
        </p:spPr>
      </p:sp>
      <p:sp>
        <p:nvSpPr>
          <p:cNvPr id="23" name="Text 21"/>
          <p:cNvSpPr txBox="1"/>
          <p:nvPr/>
        </p:nvSpPr>
        <p:spPr>
          <a:xfrm>
            <a:off x="9601200" y="178308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Building Materials</a:t>
            </a:r>
            <a:endParaRPr lang="en-US" sz="1100" dirty="0"/>
          </a:p>
        </p:txBody>
      </p:sp>
      <p:sp>
        <p:nvSpPr>
          <p:cNvPr id="24" name="Shape 22"/>
          <p:cNvSpPr/>
          <p:nvPr/>
        </p:nvSpPr>
        <p:spPr>
          <a:xfrm>
            <a:off x="548640" y="2331720"/>
            <a:ext cx="2139696" cy="457200"/>
          </a:xfrm>
          <a:prstGeom prst="roundRect">
            <a:avLst>
              <a:gd name="adj" fmla="val 50000"/>
            </a:avLst>
          </a:prstGeom>
          <a:solidFill>
            <a:srgbClr val="C14A26"/>
          </a:solidFill>
          <a:ln/>
        </p:spPr>
      </p:sp>
      <p:sp>
        <p:nvSpPr>
          <p:cNvPr id="25" name="Text 23"/>
          <p:cNvSpPr txBox="1"/>
          <p:nvPr/>
        </p:nvSpPr>
        <p:spPr>
          <a:xfrm>
            <a:off x="603504" y="233172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Doors &amp; Windows</a:t>
            </a:r>
            <a:endParaRPr lang="en-US" sz="1100" dirty="0"/>
          </a:p>
        </p:txBody>
      </p:sp>
      <p:sp>
        <p:nvSpPr>
          <p:cNvPr id="26" name="Shape 24"/>
          <p:cNvSpPr/>
          <p:nvPr/>
        </p:nvSpPr>
        <p:spPr>
          <a:xfrm>
            <a:off x="2798064" y="2331720"/>
            <a:ext cx="2139696" cy="457200"/>
          </a:xfrm>
          <a:prstGeom prst="roundRect">
            <a:avLst>
              <a:gd name="adj" fmla="val 50000"/>
            </a:avLst>
          </a:prstGeom>
          <a:solidFill>
            <a:srgbClr val="C14A26"/>
          </a:solidFill>
          <a:ln/>
        </p:spPr>
      </p:sp>
      <p:sp>
        <p:nvSpPr>
          <p:cNvPr id="27" name="Text 25"/>
          <p:cNvSpPr txBox="1"/>
          <p:nvPr/>
        </p:nvSpPr>
        <p:spPr>
          <a:xfrm>
            <a:off x="2852928" y="233172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Heating &amp; Cooling</a:t>
            </a:r>
            <a:endParaRPr lang="en-US" sz="1100" dirty="0"/>
          </a:p>
        </p:txBody>
      </p:sp>
      <p:sp>
        <p:nvSpPr>
          <p:cNvPr id="28" name="Shape 26"/>
          <p:cNvSpPr/>
          <p:nvPr/>
        </p:nvSpPr>
        <p:spPr>
          <a:xfrm>
            <a:off x="5047488" y="2331720"/>
            <a:ext cx="2139696" cy="457200"/>
          </a:xfrm>
          <a:prstGeom prst="roundRect">
            <a:avLst>
              <a:gd name="adj" fmla="val 50000"/>
            </a:avLst>
          </a:prstGeom>
          <a:solidFill>
            <a:srgbClr val="C14A26"/>
          </a:solidFill>
          <a:ln/>
        </p:spPr>
      </p:sp>
      <p:sp>
        <p:nvSpPr>
          <p:cNvPr id="29" name="Text 27"/>
          <p:cNvSpPr txBox="1"/>
          <p:nvPr/>
        </p:nvSpPr>
        <p:spPr>
          <a:xfrm>
            <a:off x="5102352" y="233172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Home &amp; Furniture</a:t>
            </a:r>
            <a:endParaRPr lang="en-US" sz="1100" dirty="0"/>
          </a:p>
        </p:txBody>
      </p:sp>
      <p:sp>
        <p:nvSpPr>
          <p:cNvPr id="30" name="Shape 28"/>
          <p:cNvSpPr/>
          <p:nvPr/>
        </p:nvSpPr>
        <p:spPr>
          <a:xfrm>
            <a:off x="7296912" y="2331720"/>
            <a:ext cx="2139696" cy="457200"/>
          </a:xfrm>
          <a:prstGeom prst="roundRect">
            <a:avLst>
              <a:gd name="adj" fmla="val 50000"/>
            </a:avLst>
          </a:prstGeom>
          <a:solidFill>
            <a:srgbClr val="C14A26"/>
          </a:solidFill>
          <a:ln/>
        </p:spPr>
      </p:sp>
      <p:sp>
        <p:nvSpPr>
          <p:cNvPr id="31" name="Text 29"/>
          <p:cNvSpPr txBox="1"/>
          <p:nvPr/>
        </p:nvSpPr>
        <p:spPr>
          <a:xfrm>
            <a:off x="7351776" y="233172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Cleaning &amp; Household</a:t>
            </a:r>
            <a:endParaRPr lang="en-US" sz="1100" dirty="0"/>
          </a:p>
        </p:txBody>
      </p:sp>
      <p:sp>
        <p:nvSpPr>
          <p:cNvPr id="32" name="Shape 30"/>
          <p:cNvSpPr/>
          <p:nvPr/>
        </p:nvSpPr>
        <p:spPr>
          <a:xfrm>
            <a:off x="9546336" y="2331720"/>
            <a:ext cx="2139696" cy="457200"/>
          </a:xfrm>
          <a:prstGeom prst="roundRect">
            <a:avLst>
              <a:gd name="adj" fmla="val 50000"/>
            </a:avLst>
          </a:prstGeom>
          <a:solidFill>
            <a:srgbClr val="C14A26"/>
          </a:solidFill>
          <a:ln/>
        </p:spPr>
      </p:sp>
      <p:sp>
        <p:nvSpPr>
          <p:cNvPr id="33" name="Text 31"/>
          <p:cNvSpPr txBox="1"/>
          <p:nvPr/>
        </p:nvSpPr>
        <p:spPr>
          <a:xfrm>
            <a:off x="9601200" y="233172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 &amp; Personal Care</a:t>
            </a:r>
            <a:endParaRPr lang="en-US" sz="1100" dirty="0"/>
          </a:p>
        </p:txBody>
      </p:sp>
      <p:sp>
        <p:nvSpPr>
          <p:cNvPr id="34" name="Shape 32"/>
          <p:cNvSpPr/>
          <p:nvPr/>
        </p:nvSpPr>
        <p:spPr>
          <a:xfrm>
            <a:off x="548640" y="2880360"/>
            <a:ext cx="2139696" cy="457200"/>
          </a:xfrm>
          <a:prstGeom prst="roundRect">
            <a:avLst>
              <a:gd name="adj" fmla="val 50000"/>
            </a:avLst>
          </a:prstGeom>
          <a:solidFill>
            <a:srgbClr val="C14A26"/>
          </a:solidFill>
          <a:ln/>
        </p:spPr>
      </p:sp>
      <p:sp>
        <p:nvSpPr>
          <p:cNvPr id="35" name="Text 33"/>
          <p:cNvSpPr txBox="1"/>
          <p:nvPr/>
        </p:nvSpPr>
        <p:spPr>
          <a:xfrm>
            <a:off x="603504" y="288036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Automotive</a:t>
            </a:r>
            <a:endParaRPr lang="en-US" sz="1100" dirty="0"/>
          </a:p>
        </p:txBody>
      </p:sp>
      <p:sp>
        <p:nvSpPr>
          <p:cNvPr id="36" name="Shape 34"/>
          <p:cNvSpPr/>
          <p:nvPr/>
        </p:nvSpPr>
        <p:spPr>
          <a:xfrm>
            <a:off x="2798064" y="2880360"/>
            <a:ext cx="2139696" cy="457200"/>
          </a:xfrm>
          <a:prstGeom prst="roundRect">
            <a:avLst>
              <a:gd name="adj" fmla="val 50000"/>
            </a:avLst>
          </a:prstGeom>
          <a:solidFill>
            <a:srgbClr val="C14A26"/>
          </a:solidFill>
          <a:ln/>
        </p:spPr>
      </p:sp>
      <p:sp>
        <p:nvSpPr>
          <p:cNvPr id="37" name="Text 35"/>
          <p:cNvSpPr txBox="1"/>
          <p:nvPr/>
        </p:nvSpPr>
        <p:spPr>
          <a:xfrm>
            <a:off x="2852928" y="288036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Sports &amp; Fitness</a:t>
            </a:r>
            <a:endParaRPr lang="en-US" sz="1100" dirty="0"/>
          </a:p>
        </p:txBody>
      </p:sp>
      <p:sp>
        <p:nvSpPr>
          <p:cNvPr id="38" name="Shape 36"/>
          <p:cNvSpPr/>
          <p:nvPr/>
        </p:nvSpPr>
        <p:spPr>
          <a:xfrm>
            <a:off x="5047488" y="2880360"/>
            <a:ext cx="2139696" cy="457200"/>
          </a:xfrm>
          <a:prstGeom prst="roundRect">
            <a:avLst>
              <a:gd name="adj" fmla="val 50000"/>
            </a:avLst>
          </a:prstGeom>
          <a:solidFill>
            <a:srgbClr val="C14A26"/>
          </a:solidFill>
          <a:ln/>
        </p:spPr>
      </p:sp>
      <p:sp>
        <p:nvSpPr>
          <p:cNvPr id="39" name="Text 37"/>
          <p:cNvSpPr txBox="1"/>
          <p:nvPr/>
        </p:nvSpPr>
        <p:spPr>
          <a:xfrm>
            <a:off x="5102352" y="288036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Toys &amp; Collectibles</a:t>
            </a:r>
            <a:endParaRPr lang="en-US" sz="1100" dirty="0"/>
          </a:p>
        </p:txBody>
      </p:sp>
      <p:sp>
        <p:nvSpPr>
          <p:cNvPr id="40" name="Shape 38"/>
          <p:cNvSpPr/>
          <p:nvPr/>
        </p:nvSpPr>
        <p:spPr>
          <a:xfrm>
            <a:off x="7296912" y="2880360"/>
            <a:ext cx="2139696" cy="457200"/>
          </a:xfrm>
          <a:prstGeom prst="roundRect">
            <a:avLst>
              <a:gd name="adj" fmla="val 50000"/>
            </a:avLst>
          </a:prstGeom>
          <a:solidFill>
            <a:srgbClr val="667061"/>
          </a:solidFill>
          <a:ln/>
        </p:spPr>
      </p:sp>
      <p:sp>
        <p:nvSpPr>
          <p:cNvPr id="41" name="Text 39"/>
          <p:cNvSpPr txBox="1"/>
          <p:nvPr/>
        </p:nvSpPr>
        <p:spPr>
          <a:xfrm>
            <a:off x="7351776" y="2880360"/>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Other</a:t>
            </a:r>
            <a:endParaRPr lang="en-US" sz="1100" dirty="0"/>
          </a:p>
        </p:txBody>
      </p:sp>
      <p:sp>
        <p:nvSpPr>
          <p:cNvPr id="42" name="Shape 40"/>
          <p:cNvSpPr/>
          <p:nvPr/>
        </p:nvSpPr>
        <p:spPr>
          <a:xfrm>
            <a:off x="548640" y="3520440"/>
            <a:ext cx="11064240" cy="1234440"/>
          </a:xfrm>
          <a:prstGeom prst="roundRect">
            <a:avLst>
              <a:gd name="adj" fmla="val 5926"/>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43" name="Shape 41"/>
          <p:cNvSpPr/>
          <p:nvPr/>
        </p:nvSpPr>
        <p:spPr>
          <a:xfrm>
            <a:off x="749808" y="3721608"/>
            <a:ext cx="310896" cy="310896"/>
          </a:xfrm>
          <a:prstGeom prst="ellipse">
            <a:avLst/>
          </a:prstGeom>
          <a:solidFill>
            <a:srgbClr val="24352A"/>
          </a:solidFill>
          <a:ln/>
        </p:spPr>
      </p:sp>
      <p:sp>
        <p:nvSpPr>
          <p:cNvPr id="44" name="Text 42"/>
          <p:cNvSpPr txBox="1"/>
          <p:nvPr/>
        </p:nvSpPr>
        <p:spPr>
          <a:xfrm>
            <a:off x="749808" y="3721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5" name="Text 43"/>
          <p:cNvSpPr txBox="1"/>
          <p:nvPr/>
        </p:nvSpPr>
        <p:spPr>
          <a:xfrm>
            <a:off x="1188720" y="36850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Broad category = store aisle. Specific product type = item on the shelf.</a:t>
            </a:r>
            <a:endParaRPr lang="en-US" sz="1500" dirty="0"/>
          </a:p>
        </p:txBody>
      </p:sp>
      <p:sp>
        <p:nvSpPr>
          <p:cNvPr id="46" name="Text 44"/>
          <p:cNvSpPr txBox="1"/>
          <p:nvPr/>
        </p:nvSpPr>
        <p:spPr>
          <a:xfrm>
            <a:off x="804672" y="4087368"/>
            <a:ext cx="10552176" cy="50292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Gemini cannot invent a new top-level category — the prompt instructs it to use “Other,” and code independently re-validates the result against this exact 19-value list (WEBSITE_CATEGORY_VALUES in Config.js) regardless of what text comes back.</a:t>
            </a:r>
            <a:endParaRPr lang="en-US" sz="1200" dirty="0"/>
          </a:p>
        </p:txBody>
      </p:sp>
      <p:sp>
        <p:nvSpPr>
          <p:cNvPr id="47" name="Text 45"/>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15</a:t>
            </a:r>
            <a:endParaRPr lang="en-US" sz="1000" dirty="0"/>
          </a:p>
        </p:txBody>
      </p:sp>
      <p:sp>
        <p:nvSpPr>
          <p:cNvPr id="48" name="Text 4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THE PUBLISHING BOUNDARY</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Website Export</a:t>
            </a:r>
            <a:endParaRPr lang="en-US" sz="3000" dirty="0"/>
          </a:p>
        </p:txBody>
      </p:sp>
      <p:sp>
        <p:nvSpPr>
          <p:cNvPr id="4" name="Shape 2"/>
          <p:cNvSpPr/>
          <p:nvPr/>
        </p:nvSpPr>
        <p:spPr>
          <a:xfrm>
            <a:off x="2423160" y="1234440"/>
            <a:ext cx="7315200" cy="603504"/>
          </a:xfrm>
          <a:prstGeom prst="roundRect">
            <a:avLst>
              <a:gd name="adj" fmla="val 10606"/>
            </a:avLst>
          </a:prstGeom>
          <a:solidFill>
            <a:srgbClr val="24352A"/>
          </a:solidFill>
          <a:ln/>
          <a:effectLst>
            <a:outerShdw sx="100000" sy="100000" kx="0" ky="0" algn="bl" rotWithShape="0" blurRad="76200" dist="25400" dir="5400000">
              <a:srgbClr val="1B241B">
                <a:alpha val="18000"/>
              </a:srgbClr>
            </a:outerShdw>
          </a:effectLst>
        </p:spPr>
      </p:sp>
      <p:sp>
        <p:nvSpPr>
          <p:cNvPr id="5" name="Text 3"/>
          <p:cNvSpPr txBox="1"/>
          <p:nvPr/>
        </p:nvSpPr>
        <p:spPr>
          <a:xfrm>
            <a:off x="2560320" y="1234440"/>
            <a:ext cx="7040880" cy="457200"/>
          </a:xfrm>
          <a:prstGeom prst="rect">
            <a:avLst/>
          </a:prstGeom>
          <a:noFill/>
          <a:ln/>
        </p:spPr>
        <p:txBody>
          <a:bodyPr wrap="square" lIns="25400" tIns="25400" rIns="25400" bIns="2540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Product Catalog</a:t>
            </a:r>
            <a:endParaRPr lang="en-US" sz="1300" dirty="0"/>
          </a:p>
        </p:txBody>
      </p:sp>
      <p:sp>
        <p:nvSpPr>
          <p:cNvPr id="6" name="Text 4"/>
          <p:cNvSpPr txBox="1"/>
          <p:nvPr/>
        </p:nvSpPr>
        <p:spPr>
          <a:xfrm>
            <a:off x="2560320" y="1636776"/>
            <a:ext cx="7040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Google Sheets</a:t>
            </a:r>
            <a:endParaRPr lang="en-US" sz="900" dirty="0"/>
          </a:p>
        </p:txBody>
      </p:sp>
      <p:sp>
        <p:nvSpPr>
          <p:cNvPr id="7" name="Shape 5"/>
          <p:cNvSpPr/>
          <p:nvPr/>
        </p:nvSpPr>
        <p:spPr>
          <a:xfrm>
            <a:off x="5998464" y="1856232"/>
            <a:ext cx="164592" cy="109728"/>
          </a:xfrm>
          <a:prstGeom prst="downArrow">
            <a:avLst/>
          </a:prstGeom>
          <a:solidFill>
            <a:srgbClr val="667061"/>
          </a:solidFill>
          <a:ln/>
        </p:spPr>
      </p:sp>
      <p:sp>
        <p:nvSpPr>
          <p:cNvPr id="8" name="Shape 6"/>
          <p:cNvSpPr/>
          <p:nvPr/>
        </p:nvSpPr>
        <p:spPr>
          <a:xfrm>
            <a:off x="2423160" y="1984248"/>
            <a:ext cx="7315200" cy="603504"/>
          </a:xfrm>
          <a:prstGeom prst="roundRect">
            <a:avLst>
              <a:gd name="adj" fmla="val 10606"/>
            </a:avLst>
          </a:prstGeom>
          <a:solidFill>
            <a:srgbClr val="24352A"/>
          </a:solidFill>
          <a:ln/>
          <a:effectLst>
            <a:outerShdw sx="100000" sy="100000" kx="0" ky="0" algn="bl" rotWithShape="0" blurRad="76200" dist="25400" dir="5400000">
              <a:srgbClr val="1B241B">
                <a:alpha val="18000"/>
              </a:srgbClr>
            </a:outerShdw>
          </a:effectLst>
        </p:spPr>
      </p:sp>
      <p:sp>
        <p:nvSpPr>
          <p:cNvPr id="9" name="Text 7"/>
          <p:cNvSpPr txBox="1"/>
          <p:nvPr/>
        </p:nvSpPr>
        <p:spPr>
          <a:xfrm>
            <a:off x="2560320" y="1984248"/>
            <a:ext cx="7040880" cy="457200"/>
          </a:xfrm>
          <a:prstGeom prst="rect">
            <a:avLst/>
          </a:prstGeom>
          <a:noFill/>
          <a:ln/>
        </p:spPr>
        <p:txBody>
          <a:bodyPr wrap="square" lIns="25400" tIns="25400" rIns="25400" bIns="2540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Post to Website?  In Stock?</a:t>
            </a:r>
            <a:endParaRPr lang="en-US" sz="1300" dirty="0"/>
          </a:p>
        </p:txBody>
      </p:sp>
      <p:sp>
        <p:nvSpPr>
          <p:cNvPr id="10" name="Text 8"/>
          <p:cNvSpPr txBox="1"/>
          <p:nvPr/>
        </p:nvSpPr>
        <p:spPr>
          <a:xfrm>
            <a:off x="2560320" y="2386584"/>
            <a:ext cx="7040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Live-sheet FORMULA logic — Website Export</a:t>
            </a:r>
            <a:endParaRPr lang="en-US" sz="900" dirty="0"/>
          </a:p>
        </p:txBody>
      </p:sp>
      <p:sp>
        <p:nvSpPr>
          <p:cNvPr id="11" name="Shape 9"/>
          <p:cNvSpPr/>
          <p:nvPr/>
        </p:nvSpPr>
        <p:spPr>
          <a:xfrm>
            <a:off x="5998464" y="2606040"/>
            <a:ext cx="164592" cy="109728"/>
          </a:xfrm>
          <a:prstGeom prst="downArrow">
            <a:avLst/>
          </a:prstGeom>
          <a:solidFill>
            <a:srgbClr val="667061"/>
          </a:solidFill>
          <a:ln/>
        </p:spPr>
      </p:sp>
      <p:sp>
        <p:nvSpPr>
          <p:cNvPr id="12" name="Shape 10"/>
          <p:cNvSpPr/>
          <p:nvPr/>
        </p:nvSpPr>
        <p:spPr>
          <a:xfrm>
            <a:off x="2423160" y="2734056"/>
            <a:ext cx="7315200" cy="603504"/>
          </a:xfrm>
          <a:prstGeom prst="roundRect">
            <a:avLst>
              <a:gd name="adj" fmla="val 10606"/>
            </a:avLst>
          </a:prstGeom>
          <a:solidFill>
            <a:srgbClr val="D9A441"/>
          </a:solidFill>
          <a:ln/>
          <a:effectLst>
            <a:outerShdw sx="100000" sy="100000" kx="0" ky="0" algn="bl" rotWithShape="0" blurRad="76200" dist="25400" dir="5400000">
              <a:srgbClr val="1B241B">
                <a:alpha val="18000"/>
              </a:srgbClr>
            </a:outerShdw>
          </a:effectLst>
        </p:spPr>
      </p:sp>
      <p:sp>
        <p:nvSpPr>
          <p:cNvPr id="13" name="Text 11"/>
          <p:cNvSpPr txBox="1"/>
          <p:nvPr/>
        </p:nvSpPr>
        <p:spPr>
          <a:xfrm>
            <a:off x="2560320" y="2734056"/>
            <a:ext cx="7040880" cy="457200"/>
          </a:xfrm>
          <a:prstGeom prst="rect">
            <a:avLst/>
          </a:prstGeom>
          <a:noFill/>
          <a:ln/>
        </p:spPr>
        <p:txBody>
          <a:bodyPr wrap="square" lIns="25400" tIns="25400" rIns="25400" bIns="2540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Valid Product Key?  Valid enums?</a:t>
            </a:r>
            <a:endParaRPr lang="en-US" sz="1300" dirty="0"/>
          </a:p>
        </p:txBody>
      </p:sp>
      <p:sp>
        <p:nvSpPr>
          <p:cNvPr id="14" name="Text 12"/>
          <p:cNvSpPr txBox="1"/>
          <p:nvPr/>
        </p:nvSpPr>
        <p:spPr>
          <a:xfrm>
            <a:off x="2560320" y="3136392"/>
            <a:ext cx="7040880" cy="182880"/>
          </a:xfrm>
          <a:prstGeom prst="rect">
            <a:avLst/>
          </a:prstGeom>
          <a:noFill/>
          <a:ln/>
        </p:spPr>
        <p:txBody>
          <a:bodyPr wrap="square" lIns="0" tIns="0" rIns="0" bIns="0" rtlCol="0" anchor="b"/>
          <a:lstStyle/>
          <a:p>
            <a:pPr algn="ctr" indent="0" marL="0">
              <a:buNone/>
            </a:pPr>
            <a:r>
              <a:rPr lang="en-US" sz="900" i="1" dirty="0">
                <a:solidFill>
                  <a:srgbClr val="F0F0F0"/>
                </a:solidFill>
                <a:latin typeface="Calibri" pitchFamily="34" charset="0"/>
                <a:ea typeface="Calibri" pitchFamily="34" charset="-122"/>
                <a:cs typeface="Calibri" pitchFamily="34" charset="-120"/>
              </a:rPr>
              <a:t>Sync-time CODE validation — WebsiteAirtableSync.js</a:t>
            </a:r>
            <a:endParaRPr lang="en-US" sz="900" dirty="0"/>
          </a:p>
        </p:txBody>
      </p:sp>
      <p:sp>
        <p:nvSpPr>
          <p:cNvPr id="15" name="Shape 13"/>
          <p:cNvSpPr/>
          <p:nvPr/>
        </p:nvSpPr>
        <p:spPr>
          <a:xfrm>
            <a:off x="5998464" y="3355848"/>
            <a:ext cx="164592" cy="109728"/>
          </a:xfrm>
          <a:prstGeom prst="downArrow">
            <a:avLst/>
          </a:prstGeom>
          <a:solidFill>
            <a:srgbClr val="667061"/>
          </a:solidFill>
          <a:ln/>
        </p:spPr>
      </p:sp>
      <p:sp>
        <p:nvSpPr>
          <p:cNvPr id="16" name="Shape 14"/>
          <p:cNvSpPr/>
          <p:nvPr/>
        </p:nvSpPr>
        <p:spPr>
          <a:xfrm>
            <a:off x="2423160" y="3483864"/>
            <a:ext cx="7315200" cy="603504"/>
          </a:xfrm>
          <a:prstGeom prst="roundRect">
            <a:avLst>
              <a:gd name="adj" fmla="val 10606"/>
            </a:avLst>
          </a:prstGeom>
          <a:solidFill>
            <a:srgbClr val="C14A26"/>
          </a:solidFill>
          <a:ln/>
          <a:effectLst>
            <a:outerShdw sx="100000" sy="100000" kx="0" ky="0" algn="bl" rotWithShape="0" blurRad="76200" dist="25400" dir="5400000">
              <a:srgbClr val="1B241B">
                <a:alpha val="18000"/>
              </a:srgbClr>
            </a:outerShdw>
          </a:effectLst>
        </p:spPr>
      </p:sp>
      <p:sp>
        <p:nvSpPr>
          <p:cNvPr id="17" name="Text 15"/>
          <p:cNvSpPr txBox="1"/>
          <p:nvPr/>
        </p:nvSpPr>
        <p:spPr>
          <a:xfrm>
            <a:off x="2560320" y="3483864"/>
            <a:ext cx="7040880" cy="603504"/>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Eligible for Airtable upsert</a:t>
            </a:r>
            <a:endParaRPr lang="en-US" sz="1300" dirty="0"/>
          </a:p>
        </p:txBody>
      </p:sp>
      <p:sp>
        <p:nvSpPr>
          <p:cNvPr id="18" name="Shape 16"/>
          <p:cNvSpPr/>
          <p:nvPr/>
        </p:nvSpPr>
        <p:spPr>
          <a:xfrm>
            <a:off x="548640" y="4892040"/>
            <a:ext cx="11064240" cy="1508760"/>
          </a:xfrm>
          <a:prstGeom prst="roundRect">
            <a:avLst>
              <a:gd name="adj" fmla="val 4848"/>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9" name="Shape 17"/>
          <p:cNvSpPr/>
          <p:nvPr/>
        </p:nvSpPr>
        <p:spPr>
          <a:xfrm>
            <a:off x="749808" y="5093208"/>
            <a:ext cx="310896" cy="310896"/>
          </a:xfrm>
          <a:prstGeom prst="ellipse">
            <a:avLst/>
          </a:prstGeom>
          <a:solidFill>
            <a:srgbClr val="24352A"/>
          </a:solidFill>
          <a:ln/>
        </p:spPr>
      </p:sp>
      <p:sp>
        <p:nvSpPr>
          <p:cNvPr id="20" name="Text 18"/>
          <p:cNvSpPr txBox="1"/>
          <p:nvPr/>
        </p:nvSpPr>
        <p:spPr>
          <a:xfrm>
            <a:off x="749808" y="50932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1" name="Text 19"/>
          <p:cNvSpPr txBox="1"/>
          <p:nvPr/>
        </p:nvSpPr>
        <p:spPr>
          <a:xfrm>
            <a:off x="1188720" y="50566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Two different mechanisms — not one blended step</a:t>
            </a:r>
            <a:endParaRPr lang="en-US" sz="1500" dirty="0"/>
          </a:p>
        </p:txBody>
      </p:sp>
      <p:sp>
        <p:nvSpPr>
          <p:cNvPr id="22" name="Text 20"/>
          <p:cNvSpPr txBox="1"/>
          <p:nvPr/>
        </p:nvSpPr>
        <p:spPr>
          <a:xfrm>
            <a:off x="804672" y="5458968"/>
            <a:ext cx="10552176" cy="77724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Config.js states directly: “Website Export is formula-driven and is not written by Apps Script.” The Post to Website / In Stock decision is live-sheet formula logic — REQUIRES LIVE-SYSTEM VERIFICATION for its exact rules. Product Key and enum validity, by contrast, are checked in code by WebsiteAirtableSync.js at sync time — verified directly from source, including the 27-header column contract that must be present or the sync refuses to run.</a:t>
            </a:r>
            <a:endParaRPr lang="en-US" sz="1150" dirty="0"/>
          </a:p>
        </p:txBody>
      </p:sp>
      <p:sp>
        <p:nvSpPr>
          <p:cNvPr id="23" name="Text 21"/>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16</a:t>
            </a:r>
            <a:endParaRPr lang="en-US" sz="1000" dirty="0"/>
          </a:p>
        </p:txBody>
      </p:sp>
      <p:sp>
        <p:nvSpPr>
          <p:cNvPr id="24" name="Text 2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PUBLISHING</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Apps Script → Airtable Synchronization</a:t>
            </a:r>
            <a:endParaRPr lang="en-US" sz="3000" dirty="0"/>
          </a:p>
        </p:txBody>
      </p:sp>
      <p:sp>
        <p:nvSpPr>
          <p:cNvPr id="4" name="Shape 2"/>
          <p:cNvSpPr/>
          <p:nvPr/>
        </p:nvSpPr>
        <p:spPr>
          <a:xfrm>
            <a:off x="2880360" y="1188720"/>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5" name="Text 3"/>
          <p:cNvSpPr txBox="1"/>
          <p:nvPr/>
        </p:nvSpPr>
        <p:spPr>
          <a:xfrm>
            <a:off x="3017520" y="1188720"/>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Read Website Export</a:t>
            </a:r>
            <a:endParaRPr lang="en-US" sz="1250" dirty="0"/>
          </a:p>
        </p:txBody>
      </p:sp>
      <p:sp>
        <p:nvSpPr>
          <p:cNvPr id="6" name="Shape 4"/>
          <p:cNvSpPr/>
          <p:nvPr/>
        </p:nvSpPr>
        <p:spPr>
          <a:xfrm>
            <a:off x="5998464" y="1755648"/>
            <a:ext cx="164592" cy="91440"/>
          </a:xfrm>
          <a:prstGeom prst="downArrow">
            <a:avLst/>
          </a:prstGeom>
          <a:solidFill>
            <a:srgbClr val="667061"/>
          </a:solidFill>
          <a:ln/>
        </p:spPr>
      </p:sp>
      <p:sp>
        <p:nvSpPr>
          <p:cNvPr id="7" name="Shape 5"/>
          <p:cNvSpPr/>
          <p:nvPr/>
        </p:nvSpPr>
        <p:spPr>
          <a:xfrm>
            <a:off x="2880360" y="1865376"/>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8" name="Text 6"/>
          <p:cNvSpPr txBox="1"/>
          <p:nvPr/>
        </p:nvSpPr>
        <p:spPr>
          <a:xfrm>
            <a:off x="3017520" y="1865376"/>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 eligibility (Post to Website + In Stock)</a:t>
            </a:r>
            <a:endParaRPr lang="en-US" sz="1250" dirty="0"/>
          </a:p>
        </p:txBody>
      </p:sp>
      <p:sp>
        <p:nvSpPr>
          <p:cNvPr id="9" name="Shape 7"/>
          <p:cNvSpPr/>
          <p:nvPr/>
        </p:nvSpPr>
        <p:spPr>
          <a:xfrm>
            <a:off x="5998464" y="2432304"/>
            <a:ext cx="164592" cy="91440"/>
          </a:xfrm>
          <a:prstGeom prst="downArrow">
            <a:avLst/>
          </a:prstGeom>
          <a:solidFill>
            <a:srgbClr val="667061"/>
          </a:solidFill>
          <a:ln/>
        </p:spPr>
      </p:sp>
      <p:sp>
        <p:nvSpPr>
          <p:cNvPr id="10" name="Shape 8"/>
          <p:cNvSpPr/>
          <p:nvPr/>
        </p:nvSpPr>
        <p:spPr>
          <a:xfrm>
            <a:off x="2880360" y="2542032"/>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11" name="Text 9"/>
          <p:cNvSpPr txBox="1"/>
          <p:nvPr/>
        </p:nvSpPr>
        <p:spPr>
          <a:xfrm>
            <a:off x="3017520" y="2542032"/>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Validate controlled fields (Category, Water Resistance, Underlayment)</a:t>
            </a:r>
            <a:endParaRPr lang="en-US" sz="1250" dirty="0"/>
          </a:p>
        </p:txBody>
      </p:sp>
      <p:sp>
        <p:nvSpPr>
          <p:cNvPr id="12" name="Shape 10"/>
          <p:cNvSpPr/>
          <p:nvPr/>
        </p:nvSpPr>
        <p:spPr>
          <a:xfrm>
            <a:off x="5998464" y="3108960"/>
            <a:ext cx="164592" cy="91440"/>
          </a:xfrm>
          <a:prstGeom prst="downArrow">
            <a:avLst/>
          </a:prstGeom>
          <a:solidFill>
            <a:srgbClr val="667061"/>
          </a:solidFill>
          <a:ln/>
        </p:spPr>
      </p:sp>
      <p:sp>
        <p:nvSpPr>
          <p:cNvPr id="13" name="Shape 11"/>
          <p:cNvSpPr/>
          <p:nvPr/>
        </p:nvSpPr>
        <p:spPr>
          <a:xfrm>
            <a:off x="2880360" y="3218688"/>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14" name="Text 12"/>
          <p:cNvSpPr txBox="1"/>
          <p:nvPr/>
        </p:nvSpPr>
        <p:spPr>
          <a:xfrm>
            <a:off x="3017520" y="3218688"/>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Upsert by Product Key</a:t>
            </a:r>
            <a:endParaRPr lang="en-US" sz="1250" dirty="0"/>
          </a:p>
        </p:txBody>
      </p:sp>
      <p:sp>
        <p:nvSpPr>
          <p:cNvPr id="15" name="Shape 13"/>
          <p:cNvSpPr/>
          <p:nvPr/>
        </p:nvSpPr>
        <p:spPr>
          <a:xfrm>
            <a:off x="5998464" y="3785616"/>
            <a:ext cx="164592" cy="91440"/>
          </a:xfrm>
          <a:prstGeom prst="downArrow">
            <a:avLst/>
          </a:prstGeom>
          <a:solidFill>
            <a:srgbClr val="667061"/>
          </a:solidFill>
          <a:ln/>
        </p:spPr>
      </p:sp>
      <p:sp>
        <p:nvSpPr>
          <p:cNvPr id="16" name="Shape 14"/>
          <p:cNvSpPr/>
          <p:nvPr/>
        </p:nvSpPr>
        <p:spPr>
          <a:xfrm>
            <a:off x="2880360" y="3895344"/>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17" name="Text 15"/>
          <p:cNvSpPr txBox="1"/>
          <p:nvPr/>
        </p:nvSpPr>
        <p:spPr>
          <a:xfrm>
            <a:off x="3017520" y="3895344"/>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Preserve Status / Date Added from the existing record</a:t>
            </a:r>
            <a:endParaRPr lang="en-US" sz="1250" dirty="0"/>
          </a:p>
        </p:txBody>
      </p:sp>
      <p:sp>
        <p:nvSpPr>
          <p:cNvPr id="18" name="Shape 16"/>
          <p:cNvSpPr/>
          <p:nvPr/>
        </p:nvSpPr>
        <p:spPr>
          <a:xfrm>
            <a:off x="5998464" y="4462272"/>
            <a:ext cx="164592" cy="91440"/>
          </a:xfrm>
          <a:prstGeom prst="downArrow">
            <a:avLst/>
          </a:prstGeom>
          <a:solidFill>
            <a:srgbClr val="667061"/>
          </a:solidFill>
          <a:ln/>
        </p:spPr>
      </p:sp>
      <p:sp>
        <p:nvSpPr>
          <p:cNvPr id="19" name="Shape 17"/>
          <p:cNvSpPr/>
          <p:nvPr/>
        </p:nvSpPr>
        <p:spPr>
          <a:xfrm>
            <a:off x="2880360" y="4572000"/>
            <a:ext cx="6400800" cy="548640"/>
          </a:xfrm>
          <a:prstGeom prst="roundRect">
            <a:avLst>
              <a:gd name="adj" fmla="val 11667"/>
            </a:avLst>
          </a:prstGeom>
          <a:solidFill>
            <a:srgbClr val="C14A26"/>
          </a:solidFill>
          <a:ln/>
          <a:effectLst>
            <a:outerShdw sx="100000" sy="100000" kx="0" ky="0" algn="bl" rotWithShape="0" blurRad="76200" dist="25400" dir="5400000">
              <a:srgbClr val="1B241B">
                <a:alpha val="18000"/>
              </a:srgbClr>
            </a:outerShdw>
          </a:effectLst>
        </p:spPr>
      </p:sp>
      <p:sp>
        <p:nvSpPr>
          <p:cNvPr id="20" name="Text 18"/>
          <p:cNvSpPr txBox="1"/>
          <p:nvPr/>
        </p:nvSpPr>
        <p:spPr>
          <a:xfrm>
            <a:off x="3017520" y="4572000"/>
            <a:ext cx="6126480" cy="5486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Unpublish stale/ineligible products — never delete</a:t>
            </a:r>
            <a:endParaRPr lang="en-US" sz="1250" dirty="0"/>
          </a:p>
        </p:txBody>
      </p:sp>
      <p:sp>
        <p:nvSpPr>
          <p:cNvPr id="21" name="Shape 19"/>
          <p:cNvSpPr/>
          <p:nvPr/>
        </p:nvSpPr>
        <p:spPr>
          <a:xfrm>
            <a:off x="548640" y="5349240"/>
            <a:ext cx="11064240" cy="1005840"/>
          </a:xfrm>
          <a:prstGeom prst="roundRect">
            <a:avLst>
              <a:gd name="adj" fmla="val 7273"/>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2" name="Shape 20"/>
          <p:cNvSpPr/>
          <p:nvPr/>
        </p:nvSpPr>
        <p:spPr>
          <a:xfrm>
            <a:off x="749808" y="5550408"/>
            <a:ext cx="310896" cy="310896"/>
          </a:xfrm>
          <a:prstGeom prst="ellipse">
            <a:avLst/>
          </a:prstGeom>
          <a:solidFill>
            <a:srgbClr val="C14A26"/>
          </a:solidFill>
          <a:ln/>
        </p:spPr>
      </p:sp>
      <p:sp>
        <p:nvSpPr>
          <p:cNvPr id="23" name="Text 21"/>
          <p:cNvSpPr txBox="1"/>
          <p:nvPr/>
        </p:nvSpPr>
        <p:spPr>
          <a:xfrm>
            <a:off x="749808" y="55504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188720" y="551383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syncWebsiteExportToAirtable()</a:t>
            </a:r>
            <a:endParaRPr lang="en-US" sz="1500" dirty="0"/>
          </a:p>
        </p:txBody>
      </p:sp>
      <p:sp>
        <p:nvSpPr>
          <p:cNvPr id="25" name="Text 23"/>
          <p:cNvSpPr txBox="1"/>
          <p:nvPr/>
        </p:nvSpPr>
        <p:spPr>
          <a:xfrm>
            <a:off x="804672" y="5916168"/>
            <a:ext cx="10552176" cy="27432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Retry/backoff on 429/5xx — up to 5 attempts, Retry-After aware. One bad row is rejected and logged; the run continues for everyone else. Batches of 10 records per Airtable request, 250ms apart.</a:t>
            </a:r>
            <a:endParaRPr lang="en-US" sz="1150" dirty="0"/>
          </a:p>
        </p:txBody>
      </p:sp>
      <p:sp>
        <p:nvSpPr>
          <p:cNvPr id="26" name="Text 24"/>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17</a:t>
            </a:r>
            <a:endParaRPr lang="en-US" sz="1000" dirty="0"/>
          </a:p>
        </p:txBody>
      </p:sp>
      <p:sp>
        <p:nvSpPr>
          <p:cNvPr id="27" name="Text 2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WHY TWO SYSTEMS?</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Airtable — The Website-Ready Catalog</a:t>
            </a:r>
            <a:endParaRPr lang="en-US" sz="3000" dirty="0"/>
          </a:p>
        </p:txBody>
      </p:sp>
      <p:sp>
        <p:nvSpPr>
          <p:cNvPr id="4" name="Shape 2"/>
          <p:cNvSpPr/>
          <p:nvPr/>
        </p:nvSpPr>
        <p:spPr>
          <a:xfrm>
            <a:off x="548640" y="1234440"/>
            <a:ext cx="5394960" cy="1965960"/>
          </a:xfrm>
          <a:prstGeom prst="roundRect">
            <a:avLst>
              <a:gd name="adj" fmla="val 3721"/>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4352A"/>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Google Sheets</a:t>
            </a:r>
            <a:endParaRPr lang="en-US" sz="1500" dirty="0"/>
          </a:p>
        </p:txBody>
      </p:sp>
      <p:sp>
        <p:nvSpPr>
          <p:cNvPr id="8" name="Text 6"/>
          <p:cNvSpPr txBox="1"/>
          <p:nvPr/>
        </p:nvSpPr>
        <p:spPr>
          <a:xfrm>
            <a:off x="804672" y="1801368"/>
            <a:ext cx="4882896" cy="1234440"/>
          </a:xfrm>
          <a:prstGeom prst="rect">
            <a:avLst/>
          </a:prstGeom>
          <a:noFill/>
          <a:ln/>
        </p:spPr>
        <p:txBody>
          <a:bodyPr wrap="square" lIns="0" tIns="0" rIns="0" bIns="0" rtlCol="0" anchor="t"/>
          <a:lstStyle/>
          <a:p>
            <a:pPr indent="0" marL="0">
              <a:lnSpc>
                <a:spcPct val="112000"/>
              </a:lnSpc>
              <a:buNone/>
            </a:pPr>
            <a:r>
              <a:rPr lang="en-US" sz="1300" dirty="0">
                <a:solidFill>
                  <a:srgbClr val="34493A"/>
                </a:solidFill>
                <a:latin typeface="Calibri" pitchFamily="34" charset="0"/>
                <a:ea typeface="Calibri" pitchFamily="34" charset="-122"/>
                <a:cs typeface="Calibri" pitchFamily="34" charset="-120"/>
              </a:rPr>
              <a:t>Operational / master business data.</a:t>
            </a:r>
            <a:endParaRPr lang="en-US" sz="1300" dirty="0"/>
          </a:p>
          <a:p>
            <a:pPr indent="0" marL="0">
              <a:lnSpc>
                <a:spcPct val="112000"/>
              </a:lnSpc>
              <a:buNone/>
            </a:pPr>
            <a:endParaRPr lang="en-US" sz="1300" dirty="0"/>
          </a:p>
          <a:p>
            <a:pPr indent="0" marL="0">
              <a:lnSpc>
                <a:spcPct val="112000"/>
              </a:lnSpc>
              <a:buNone/>
            </a:pPr>
            <a:r>
              <a:rPr lang="en-US" sz="1300" dirty="0">
                <a:solidFill>
                  <a:srgbClr val="34493A"/>
                </a:solidFill>
                <a:latin typeface="Calibri" pitchFamily="34" charset="0"/>
                <a:ea typeface="Calibri" pitchFamily="34" charset="-122"/>
                <a:cs typeface="Calibri" pitchFamily="34" charset="-120"/>
              </a:rPr>
              <a:t>This is the source of truth. All product identity, pricing logic, and enrichment happen here first.</a:t>
            </a:r>
            <a:endParaRPr lang="en-US" sz="1300" dirty="0"/>
          </a:p>
        </p:txBody>
      </p:sp>
      <p:sp>
        <p:nvSpPr>
          <p:cNvPr id="9" name="Shape 7"/>
          <p:cNvSpPr/>
          <p:nvPr/>
        </p:nvSpPr>
        <p:spPr>
          <a:xfrm>
            <a:off x="6263640" y="1234440"/>
            <a:ext cx="5166360" cy="1965960"/>
          </a:xfrm>
          <a:prstGeom prst="roundRect">
            <a:avLst>
              <a:gd name="adj" fmla="val 3721"/>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6464808" y="1435608"/>
            <a:ext cx="310896" cy="310896"/>
          </a:xfrm>
          <a:prstGeom prst="ellipse">
            <a:avLst/>
          </a:prstGeom>
          <a:solidFill>
            <a:srgbClr val="C14A26"/>
          </a:solidFill>
          <a:ln/>
        </p:spPr>
      </p:sp>
      <p:sp>
        <p:nvSpPr>
          <p:cNvPr id="11" name="Text 9"/>
          <p:cNvSpPr txBox="1"/>
          <p:nvPr/>
        </p:nvSpPr>
        <p:spPr>
          <a:xfrm>
            <a:off x="6464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903720" y="1399032"/>
            <a:ext cx="43434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Airtable</a:t>
            </a:r>
            <a:endParaRPr lang="en-US" sz="1500" dirty="0"/>
          </a:p>
        </p:txBody>
      </p:sp>
      <p:sp>
        <p:nvSpPr>
          <p:cNvPr id="13" name="Text 11"/>
          <p:cNvSpPr txBox="1"/>
          <p:nvPr/>
        </p:nvSpPr>
        <p:spPr>
          <a:xfrm>
            <a:off x="6519672" y="1801368"/>
            <a:ext cx="4654296" cy="1234440"/>
          </a:xfrm>
          <a:prstGeom prst="rect">
            <a:avLst/>
          </a:prstGeom>
          <a:noFill/>
          <a:ln/>
        </p:spPr>
        <p:txBody>
          <a:bodyPr wrap="square" lIns="0" tIns="0" rIns="0" bIns="0" rtlCol="0" anchor="t"/>
          <a:lstStyle/>
          <a:p>
            <a:pPr indent="0" marL="0">
              <a:lnSpc>
                <a:spcPct val="112000"/>
              </a:lnSpc>
              <a:buNone/>
            </a:pPr>
            <a:r>
              <a:rPr lang="en-US" sz="1300" dirty="0">
                <a:solidFill>
                  <a:srgbClr val="34493A"/>
                </a:solidFill>
                <a:latin typeface="Calibri" pitchFamily="34" charset="0"/>
                <a:ea typeface="Calibri" pitchFamily="34" charset="-122"/>
                <a:cs typeface="Calibri" pitchFamily="34" charset="-120"/>
              </a:rPr>
              <a:t>The published, website-ready catalog. Most publishing fields are synchronized from Sheets — but not every field works the same way (see below).</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11064240" cy="914400"/>
        </p:xfrm>
        <a:graphic>
          <a:graphicData uri="http://schemas.openxmlformats.org/drawingml/2006/table">
            <a:tbl>
              <a:tblPr/>
              <a:tblGrid>
                <a:gridCol w="5029200"/>
                <a:gridCol w="6035040"/>
              </a:tblGrid>
              <a:tr h="566928">
                <a:tc>
                  <a:txBody>
                    <a:bodyPr/>
                    <a:lstStyle/>
                    <a:p>
                      <a:pPr indent="0" marL="0">
                        <a:buNone/>
                      </a:pPr>
                      <a:r>
                        <a:rPr lang="en-US" sz="1200" b="1" dirty="0">
                          <a:solidFill>
                            <a:srgbClr val="FFFFFF"/>
                          </a:solidFill>
                        </a:rPr>
                        <a:t>Field(s)</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Who owns / writes it</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r>
              <a:tr h="566928">
                <a:tc>
                  <a:txBody>
                    <a:bodyPr/>
                    <a:lstStyle/>
                    <a:p>
                      <a:pPr indent="0" marL="0">
                        <a:buNone/>
                      </a:pPr>
                      <a:r>
                        <a:rPr lang="en-US" sz="1050" dirty="0">
                          <a:solidFill>
                            <a:srgbClr val="1B241B"/>
                          </a:solidFill>
                        </a:rPr>
                        <a:t>Product Key, Name, Category, Price, Details,</a:t>
                      </a:r>
                      <a:endParaRPr lang="en-US" sz="1050" dirty="0"/>
                    </a:p>
                    <a:p>
                      <a:pPr indent="0" marL="0">
                        <a:buNone/>
                      </a:pPr>
                      <a:r>
                        <a:rPr lang="en-US" sz="1050" dirty="0">
                          <a:solidFill>
                            <a:srgbClr val="1B241B"/>
                          </a:solidFill>
                        </a:rPr>
                        <a:t>Highlights, and most other publishing fields</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050" dirty="0">
                          <a:solidFill>
                            <a:srgbClr val="1B241B"/>
                          </a:solidFill>
                        </a:rPr>
                        <a:t>Overwritten on every sync — Google Sheets is authoritative</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B241B"/>
                          </a:solidFill>
                        </a:rPr>
                        <a:t>Status (operational)</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050" dirty="0">
                          <a:solidFill>
                            <a:srgbClr val="1B241B"/>
                          </a:solidFill>
                        </a:rPr>
                        <a:t>Preserved from the existing Airtable record; only defaulted to “In Stock” for a brand-new record</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66928">
                <a:tc>
                  <a:txBody>
                    <a:bodyPr/>
                    <a:lstStyle/>
                    <a:p>
                      <a:pPr indent="0" marL="0">
                        <a:buNone/>
                      </a:pPr>
                      <a:r>
                        <a:rPr lang="en-US" sz="1050" dirty="0">
                          <a:solidFill>
                            <a:srgbClr val="1B241B"/>
                          </a:solidFill>
                        </a:rPr>
                        <a:t>Photos</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050" dirty="0">
                          <a:solidFill>
                            <a:srgbClr val="1B241B"/>
                          </a:solidFill>
                        </a:rPr>
                        <a:t>Read by the website — NOT written by the current Apps Script sync (REQUIRES LIVE-SYSTEM VERIFICATION for what populates it)</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B241B"/>
                          </a:solidFill>
                        </a:rPr>
                        <a:t>Date Added</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050" dirty="0">
                          <a:solidFill>
                            <a:srgbClr val="1B241B"/>
                          </a:solidFill>
                        </a:rPr>
                        <a:t>Preserved from the existing record (or backfilled from Airtable's own created-time) — never reset on each sync</a:t>
                      </a:r>
                      <a:endParaRPr lang="en-US" sz="10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bl>
          </a:graphicData>
        </a:graphic>
      </p:graphicFrame>
      <p:sp>
        <p:nvSpPr>
          <p:cNvPr id="15" name="Text 1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18</a:t>
            </a:r>
            <a:endParaRPr lang="en-US" sz="1000" dirty="0"/>
          </a:p>
        </p:txBody>
      </p:sp>
      <p:sp>
        <p:nvSpPr>
          <p:cNvPr id="16"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DATA SAFETY</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Controlled Values &amp; Safety</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26080"/>
                <a:gridCol w="4937760"/>
                <a:gridCol w="3200400"/>
              </a:tblGrid>
              <a:tr h="0">
                <a:tc>
                  <a:txBody>
                    <a:bodyPr/>
                    <a:lstStyle/>
                    <a:p>
                      <a:pPr indent="0" marL="0">
                        <a:buNone/>
                      </a:pPr>
                      <a:r>
                        <a:rPr lang="en-US" sz="1200" b="1" dirty="0">
                          <a:solidFill>
                            <a:srgbClr val="FFFFFF"/>
                          </a:solidFill>
                        </a:rPr>
                        <a:t>Field</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Allowed values</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Enforced by</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r>
              <a:tr h="0">
                <a:tc>
                  <a:txBody>
                    <a:bodyPr/>
                    <a:lstStyle/>
                    <a:p>
                      <a:pPr indent="0" marL="0">
                        <a:buNone/>
                      </a:pPr>
                      <a:r>
                        <a:rPr lang="en-US" sz="1150" dirty="0">
                          <a:solidFill>
                            <a:srgbClr val="1B241B"/>
                          </a:solidFill>
                        </a:rPr>
                        <a:t>Category</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19-value approved list</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iwaEnum_() in WebsiteAirtableSync.js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241B"/>
                          </a:solidFill>
                        </a:rPr>
                        <a:t>Water Resistance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Waterproof, Water Resistant, Not Water Resistant, Unknown</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iwaWaterResistance_() (legacy Yes/No normalized first)</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0">
                <a:tc>
                  <a:txBody>
                    <a:bodyPr/>
                    <a:lstStyle/>
                    <a:p>
                      <a:pPr indent="0" marL="0">
                        <a:buNone/>
                      </a:pPr>
                      <a:r>
                        <a:rPr lang="en-US" sz="1150" dirty="0">
                          <a:solidFill>
                            <a:srgbClr val="1B241B"/>
                          </a:solidFill>
                        </a:rPr>
                        <a:t>Underlayment Attached</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Yes, No</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iwaEnum_()</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337560"/>
            <a:ext cx="11064240" cy="2011680"/>
          </a:xfrm>
          <a:prstGeom prst="roundRect">
            <a:avLst>
              <a:gd name="adj" fmla="val 3636"/>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6" name="Shape 3"/>
          <p:cNvSpPr/>
          <p:nvPr/>
        </p:nvSpPr>
        <p:spPr>
          <a:xfrm>
            <a:off x="749808" y="3538728"/>
            <a:ext cx="310896" cy="310896"/>
          </a:xfrm>
          <a:prstGeom prst="ellipse">
            <a:avLst/>
          </a:prstGeom>
          <a:solidFill>
            <a:srgbClr val="C14A26"/>
          </a:solidFill>
          <a:ln/>
        </p:spPr>
      </p:sp>
      <p:sp>
        <p:nvSpPr>
          <p:cNvPr id="7" name="Text 4"/>
          <p:cNvSpPr txBox="1"/>
          <p:nvPr/>
        </p:nvSpPr>
        <p:spPr>
          <a:xfrm>
            <a:off x="749808" y="35387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5"/>
          <p:cNvSpPr txBox="1"/>
          <p:nvPr/>
        </p:nvSpPr>
        <p:spPr>
          <a:xfrm>
            <a:off x="1188720" y="350215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Why one bad controlled-value row does not abort the whole sync</a:t>
            </a:r>
            <a:endParaRPr lang="en-US" sz="1500" dirty="0"/>
          </a:p>
        </p:txBody>
      </p:sp>
      <p:sp>
        <p:nvSpPr>
          <p:cNvPr id="9" name="Text 6"/>
          <p:cNvSpPr txBox="1"/>
          <p:nvPr/>
        </p:nvSpPr>
        <p:spPr>
          <a:xfrm>
            <a:off x="804672" y="3904488"/>
            <a:ext cx="10552176" cy="128016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Every enum check runs inside the per-row loop, wrapped in its own try/catch. A thrown validation error is caught, the row is logged with its Product Key and reason, and the loop simply moves to the next row — that one row's data is not written this run. The overall sync still completes and returns a normal summary — the batch upsert for every other already-validated row is unaffected. Other kinds of systemic failure (e.g. a missing required column, or Airtable being unreachable after every retry) can still abort the run entirely.</a:t>
            </a:r>
            <a:endParaRPr lang="en-US" sz="1150" dirty="0"/>
          </a:p>
        </p:txBody>
      </p:sp>
      <p:sp>
        <p:nvSpPr>
          <p:cNvPr id="10" name="Text 7"/>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19</a:t>
            </a:r>
            <a:endParaRPr lang="en-US" sz="1000" dirty="0"/>
          </a:p>
        </p:txBody>
      </p:sp>
      <p:sp>
        <p:nvSpPr>
          <p:cNvPr id="11" name="Text 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THE ENGINE ROOM</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Netlify Architecture</a:t>
            </a:r>
            <a:endParaRPr lang="en-US" sz="3000" dirty="0"/>
          </a:p>
        </p:txBody>
      </p:sp>
      <p:sp>
        <p:nvSpPr>
          <p:cNvPr id="4" name="Shape 2"/>
          <p:cNvSpPr/>
          <p:nvPr/>
        </p:nvSpPr>
        <p:spPr>
          <a:xfrm>
            <a:off x="548640" y="1234440"/>
            <a:ext cx="5394960" cy="1691640"/>
          </a:xfrm>
          <a:prstGeom prst="roundRect">
            <a:avLst>
              <a:gd name="adj" fmla="val 43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2C5670"/>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Static frontend</a:t>
            </a:r>
            <a:endParaRPr lang="en-US" sz="1500" dirty="0"/>
          </a:p>
        </p:txBody>
      </p:sp>
      <p:sp>
        <p:nvSpPr>
          <p:cNvPr id="8" name="Text 6"/>
          <p:cNvSpPr txBox="1"/>
          <p:nvPr/>
        </p:nvSpPr>
        <p:spPr>
          <a:xfrm>
            <a:off x="804672" y="1801368"/>
            <a:ext cx="4882896" cy="9601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Plain HTML / CSS / JS at the repo root — no framework, no build step for the site itself.</a:t>
            </a:r>
            <a:endParaRPr lang="en-US" sz="1250" dirty="0"/>
          </a:p>
        </p:txBody>
      </p:sp>
      <p:sp>
        <p:nvSpPr>
          <p:cNvPr id="9" name="Shape 7"/>
          <p:cNvSpPr/>
          <p:nvPr/>
        </p:nvSpPr>
        <p:spPr>
          <a:xfrm>
            <a:off x="6217920" y="1234440"/>
            <a:ext cx="5394960" cy="1691640"/>
          </a:xfrm>
          <a:prstGeom prst="roundRect">
            <a:avLst>
              <a:gd name="adj" fmla="val 43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6419088" y="1435608"/>
            <a:ext cx="310896" cy="310896"/>
          </a:xfrm>
          <a:prstGeom prst="ellipse">
            <a:avLst/>
          </a:prstGeom>
          <a:solidFill>
            <a:srgbClr val="2C5670"/>
          </a:solidFill>
          <a:ln/>
        </p:spPr>
      </p:sp>
      <p:sp>
        <p:nvSpPr>
          <p:cNvPr id="11" name="Text 9"/>
          <p:cNvSpPr txBox="1"/>
          <p:nvPr/>
        </p:nvSpPr>
        <p:spPr>
          <a:xfrm>
            <a:off x="641908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858000" y="139903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Serverless Functions</a:t>
            </a:r>
            <a:endParaRPr lang="en-US" sz="1500" dirty="0"/>
          </a:p>
        </p:txBody>
      </p:sp>
      <p:sp>
        <p:nvSpPr>
          <p:cNvPr id="13" name="Text 11"/>
          <p:cNvSpPr txBox="1"/>
          <p:nvPr/>
        </p:nvSpPr>
        <p:spPr>
          <a:xfrm>
            <a:off x="6473952" y="1801368"/>
            <a:ext cx="4882896" cy="9601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inventory, subscribe, confirm-subscription, unsubscribe, weekly-digest, digest-test.</a:t>
            </a:r>
            <a:endParaRPr lang="en-US" sz="1250" dirty="0"/>
          </a:p>
        </p:txBody>
      </p:sp>
      <p:sp>
        <p:nvSpPr>
          <p:cNvPr id="14" name="Shape 12"/>
          <p:cNvSpPr/>
          <p:nvPr/>
        </p:nvSpPr>
        <p:spPr>
          <a:xfrm>
            <a:off x="548640" y="3154680"/>
            <a:ext cx="5394960" cy="1691640"/>
          </a:xfrm>
          <a:prstGeom prst="roundRect">
            <a:avLst>
              <a:gd name="adj" fmla="val 43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5" name="Shape 13"/>
          <p:cNvSpPr/>
          <p:nvPr/>
        </p:nvSpPr>
        <p:spPr>
          <a:xfrm>
            <a:off x="749808" y="3355848"/>
            <a:ext cx="310896" cy="310896"/>
          </a:xfrm>
          <a:prstGeom prst="ellipse">
            <a:avLst/>
          </a:prstGeom>
          <a:solidFill>
            <a:srgbClr val="2C5670"/>
          </a:solidFill>
          <a:ln/>
        </p:spPr>
      </p:sp>
      <p:sp>
        <p:nvSpPr>
          <p:cNvPr id="16" name="Text 14"/>
          <p:cNvSpPr txBox="1"/>
          <p:nvPr/>
        </p:nvSpPr>
        <p:spPr>
          <a:xfrm>
            <a:off x="749808" y="33558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188720" y="331927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Edge Functions</a:t>
            </a:r>
            <a:endParaRPr lang="en-US" sz="1500" dirty="0"/>
          </a:p>
        </p:txBody>
      </p:sp>
      <p:sp>
        <p:nvSpPr>
          <p:cNvPr id="18" name="Text 16"/>
          <p:cNvSpPr txBox="1"/>
          <p:nvPr/>
        </p:nvSpPr>
        <p:spPr>
          <a:xfrm>
            <a:off x="804672" y="3721608"/>
            <a:ext cx="4882896" cy="9601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preview-noindex (SEO safety) and product-meta (per-product social/SEO metadata).</a:t>
            </a:r>
            <a:endParaRPr lang="en-US" sz="1250" dirty="0"/>
          </a:p>
        </p:txBody>
      </p:sp>
      <p:sp>
        <p:nvSpPr>
          <p:cNvPr id="19" name="Shape 17"/>
          <p:cNvSpPr/>
          <p:nvPr/>
        </p:nvSpPr>
        <p:spPr>
          <a:xfrm>
            <a:off x="6217920" y="3154680"/>
            <a:ext cx="5394960" cy="1691640"/>
          </a:xfrm>
          <a:prstGeom prst="roundRect">
            <a:avLst>
              <a:gd name="adj" fmla="val 432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0" name="Shape 18"/>
          <p:cNvSpPr/>
          <p:nvPr/>
        </p:nvSpPr>
        <p:spPr>
          <a:xfrm>
            <a:off x="6419088" y="3355848"/>
            <a:ext cx="310896" cy="310896"/>
          </a:xfrm>
          <a:prstGeom prst="ellipse">
            <a:avLst/>
          </a:prstGeom>
          <a:solidFill>
            <a:srgbClr val="2C5670"/>
          </a:solidFill>
          <a:ln/>
        </p:spPr>
      </p:sp>
      <p:sp>
        <p:nvSpPr>
          <p:cNvPr id="21" name="Text 19"/>
          <p:cNvSpPr txBox="1"/>
          <p:nvPr/>
        </p:nvSpPr>
        <p:spPr>
          <a:xfrm>
            <a:off x="6419088" y="33558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6858000" y="3319272"/>
            <a:ext cx="45720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Deployment</a:t>
            </a:r>
            <a:endParaRPr lang="en-US" sz="1500" dirty="0"/>
          </a:p>
        </p:txBody>
      </p:sp>
      <p:sp>
        <p:nvSpPr>
          <p:cNvPr id="23" name="Text 21"/>
          <p:cNvSpPr txBox="1"/>
          <p:nvPr/>
        </p:nvSpPr>
        <p:spPr>
          <a:xfrm>
            <a:off x="6473952" y="3721608"/>
            <a:ext cx="4882896" cy="9601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Builds directly from this GitHub repository — main is production, final-pre-production is staging.</a:t>
            </a:r>
            <a:endParaRPr lang="en-US" sz="1250" dirty="0"/>
          </a:p>
        </p:txBody>
      </p:sp>
      <p:sp>
        <p:nvSpPr>
          <p:cNvPr id="24" name="Text 2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20</a:t>
            </a:r>
            <a:endParaRPr lang="en-US" sz="1000" dirty="0"/>
          </a:p>
        </p:txBody>
      </p:sp>
      <p:sp>
        <p:nvSpPr>
          <p:cNvPr id="25" name="Text 2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REQUEST TRACE</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The Inventory API</a:t>
            </a:r>
            <a:endParaRPr lang="en-US" sz="3000" dirty="0"/>
          </a:p>
        </p:txBody>
      </p:sp>
      <p:sp>
        <p:nvSpPr>
          <p:cNvPr id="4" name="Shape 2"/>
          <p:cNvSpPr/>
          <p:nvPr/>
        </p:nvSpPr>
        <p:spPr>
          <a:xfrm>
            <a:off x="2880360" y="1280160"/>
            <a:ext cx="6400800" cy="566928"/>
          </a:xfrm>
          <a:prstGeom prst="roundRect">
            <a:avLst>
              <a:gd name="adj" fmla="val 11290"/>
            </a:avLst>
          </a:prstGeom>
          <a:solidFill>
            <a:srgbClr val="34493A"/>
          </a:solidFill>
          <a:ln/>
          <a:effectLst>
            <a:outerShdw sx="100000" sy="100000" kx="0" ky="0" algn="bl" rotWithShape="0" blurRad="76200" dist="25400" dir="5400000">
              <a:srgbClr val="1B241B">
                <a:alpha val="18000"/>
              </a:srgbClr>
            </a:outerShdw>
          </a:effectLst>
        </p:spPr>
      </p:sp>
      <p:sp>
        <p:nvSpPr>
          <p:cNvPr id="5" name="Text 3"/>
          <p:cNvSpPr txBox="1"/>
          <p:nvPr/>
        </p:nvSpPr>
        <p:spPr>
          <a:xfrm>
            <a:off x="3017520" y="1280160"/>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a:t>
            </a:r>
            <a:endParaRPr lang="en-US" sz="1250" dirty="0"/>
          </a:p>
        </p:txBody>
      </p:sp>
      <p:sp>
        <p:nvSpPr>
          <p:cNvPr id="6" name="Shape 4"/>
          <p:cNvSpPr/>
          <p:nvPr/>
        </p:nvSpPr>
        <p:spPr>
          <a:xfrm>
            <a:off x="5998464" y="1865376"/>
            <a:ext cx="164592" cy="109728"/>
          </a:xfrm>
          <a:prstGeom prst="downArrow">
            <a:avLst/>
          </a:prstGeom>
          <a:solidFill>
            <a:srgbClr val="667061"/>
          </a:solidFill>
          <a:ln/>
        </p:spPr>
      </p:sp>
      <p:sp>
        <p:nvSpPr>
          <p:cNvPr id="7" name="Shape 5"/>
          <p:cNvSpPr/>
          <p:nvPr/>
        </p:nvSpPr>
        <p:spPr>
          <a:xfrm>
            <a:off x="2880360" y="1993392"/>
            <a:ext cx="6400800" cy="566928"/>
          </a:xfrm>
          <a:prstGeom prst="roundRect">
            <a:avLst>
              <a:gd name="adj" fmla="val 11290"/>
            </a:avLst>
          </a:prstGeom>
          <a:solidFill>
            <a:srgbClr val="34493A"/>
          </a:solidFill>
          <a:ln/>
          <a:effectLst>
            <a:outerShdw sx="100000" sy="100000" kx="0" ky="0" algn="bl" rotWithShape="0" blurRad="76200" dist="25400" dir="5400000">
              <a:srgbClr val="1B241B">
                <a:alpha val="18000"/>
              </a:srgbClr>
            </a:outerShdw>
          </a:effectLst>
        </p:spPr>
      </p:sp>
      <p:sp>
        <p:nvSpPr>
          <p:cNvPr id="8" name="Text 6"/>
          <p:cNvSpPr txBox="1"/>
          <p:nvPr/>
        </p:nvSpPr>
        <p:spPr>
          <a:xfrm>
            <a:off x="3017520" y="1993392"/>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GET /api/inventory  (15-min localStorage cache checked first)</a:t>
            </a:r>
            <a:endParaRPr lang="en-US" sz="1250" dirty="0"/>
          </a:p>
        </p:txBody>
      </p:sp>
      <p:sp>
        <p:nvSpPr>
          <p:cNvPr id="9" name="Shape 7"/>
          <p:cNvSpPr/>
          <p:nvPr/>
        </p:nvSpPr>
        <p:spPr>
          <a:xfrm>
            <a:off x="5998464" y="2578608"/>
            <a:ext cx="164592" cy="109728"/>
          </a:xfrm>
          <a:prstGeom prst="downArrow">
            <a:avLst/>
          </a:prstGeom>
          <a:solidFill>
            <a:srgbClr val="667061"/>
          </a:solidFill>
          <a:ln/>
        </p:spPr>
      </p:sp>
      <p:sp>
        <p:nvSpPr>
          <p:cNvPr id="10" name="Shape 8"/>
          <p:cNvSpPr/>
          <p:nvPr/>
        </p:nvSpPr>
        <p:spPr>
          <a:xfrm>
            <a:off x="2880360" y="2706624"/>
            <a:ext cx="6400800" cy="566928"/>
          </a:xfrm>
          <a:prstGeom prst="roundRect">
            <a:avLst>
              <a:gd name="adj" fmla="val 11290"/>
            </a:avLst>
          </a:prstGeom>
          <a:solidFill>
            <a:srgbClr val="2C5670"/>
          </a:solidFill>
          <a:ln/>
          <a:effectLst>
            <a:outerShdw sx="100000" sy="100000" kx="0" ky="0" algn="bl" rotWithShape="0" blurRad="76200" dist="25400" dir="5400000">
              <a:srgbClr val="1B241B">
                <a:alpha val="18000"/>
              </a:srgbClr>
            </a:outerShdw>
          </a:effectLst>
        </p:spPr>
      </p:sp>
      <p:sp>
        <p:nvSpPr>
          <p:cNvPr id="11" name="Text 9"/>
          <p:cNvSpPr txBox="1"/>
          <p:nvPr/>
        </p:nvSpPr>
        <p:spPr>
          <a:xfrm>
            <a:off x="3017520" y="2706624"/>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Netlify Function  (inventory.mts)</a:t>
            </a:r>
            <a:endParaRPr lang="en-US" sz="1250" dirty="0"/>
          </a:p>
        </p:txBody>
      </p:sp>
      <p:sp>
        <p:nvSpPr>
          <p:cNvPr id="12" name="Shape 10"/>
          <p:cNvSpPr/>
          <p:nvPr/>
        </p:nvSpPr>
        <p:spPr>
          <a:xfrm>
            <a:off x="5998464" y="3291840"/>
            <a:ext cx="164592" cy="109728"/>
          </a:xfrm>
          <a:prstGeom prst="downArrow">
            <a:avLst/>
          </a:prstGeom>
          <a:solidFill>
            <a:srgbClr val="667061"/>
          </a:solidFill>
          <a:ln/>
        </p:spPr>
      </p:sp>
      <p:sp>
        <p:nvSpPr>
          <p:cNvPr id="13" name="Shape 11"/>
          <p:cNvSpPr/>
          <p:nvPr/>
        </p:nvSpPr>
        <p:spPr>
          <a:xfrm>
            <a:off x="2880360" y="3419856"/>
            <a:ext cx="6400800" cy="566928"/>
          </a:xfrm>
          <a:prstGeom prst="roundRect">
            <a:avLst>
              <a:gd name="adj" fmla="val 11290"/>
            </a:avLst>
          </a:prstGeom>
          <a:solidFill>
            <a:srgbClr val="C14A26"/>
          </a:solidFill>
          <a:ln/>
          <a:effectLst>
            <a:outerShdw sx="100000" sy="100000" kx="0" ky="0" algn="bl" rotWithShape="0" blurRad="76200" dist="25400" dir="5400000">
              <a:srgbClr val="1B241B">
                <a:alpha val="18000"/>
              </a:srgbClr>
            </a:outerShdw>
          </a:effectLst>
        </p:spPr>
      </p:sp>
      <p:sp>
        <p:nvSpPr>
          <p:cNvPr id="14" name="Text 12"/>
          <p:cNvSpPr txBox="1"/>
          <p:nvPr/>
        </p:nvSpPr>
        <p:spPr>
          <a:xfrm>
            <a:off x="3017520" y="3419856"/>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Airtable  (Post to Website = TRUE, paginated)</a:t>
            </a:r>
            <a:endParaRPr lang="en-US" sz="1250" dirty="0"/>
          </a:p>
        </p:txBody>
      </p:sp>
      <p:sp>
        <p:nvSpPr>
          <p:cNvPr id="15" name="Shape 13"/>
          <p:cNvSpPr/>
          <p:nvPr/>
        </p:nvSpPr>
        <p:spPr>
          <a:xfrm>
            <a:off x="5998464" y="4005072"/>
            <a:ext cx="164592" cy="109728"/>
          </a:xfrm>
          <a:prstGeom prst="downArrow">
            <a:avLst/>
          </a:prstGeom>
          <a:solidFill>
            <a:srgbClr val="667061"/>
          </a:solidFill>
          <a:ln/>
        </p:spPr>
      </p:sp>
      <p:sp>
        <p:nvSpPr>
          <p:cNvPr id="16" name="Shape 14"/>
          <p:cNvSpPr/>
          <p:nvPr/>
        </p:nvSpPr>
        <p:spPr>
          <a:xfrm>
            <a:off x="2880360" y="4133088"/>
            <a:ext cx="6400800" cy="566928"/>
          </a:xfrm>
          <a:prstGeom prst="roundRect">
            <a:avLst>
              <a:gd name="adj" fmla="val 11290"/>
            </a:avLst>
          </a:prstGeom>
          <a:solidFill>
            <a:srgbClr val="2C5670"/>
          </a:solidFill>
          <a:ln/>
          <a:effectLst>
            <a:outerShdw sx="100000" sy="100000" kx="0" ky="0" algn="bl" rotWithShape="0" blurRad="76200" dist="25400" dir="5400000">
              <a:srgbClr val="1B241B">
                <a:alpha val="18000"/>
              </a:srgbClr>
            </a:outerShdw>
          </a:effectLst>
        </p:spPr>
      </p:sp>
      <p:sp>
        <p:nvSpPr>
          <p:cNvPr id="17" name="Text 15"/>
          <p:cNvSpPr txBox="1"/>
          <p:nvPr/>
        </p:nvSpPr>
        <p:spPr>
          <a:xfrm>
            <a:off x="3017520" y="4133088"/>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response  (60s CDN cache, browser cache disabled)</a:t>
            </a:r>
            <a:endParaRPr lang="en-US" sz="1250" dirty="0"/>
          </a:p>
        </p:txBody>
      </p:sp>
      <p:sp>
        <p:nvSpPr>
          <p:cNvPr id="18" name="Shape 16"/>
          <p:cNvSpPr/>
          <p:nvPr/>
        </p:nvSpPr>
        <p:spPr>
          <a:xfrm>
            <a:off x="5998464" y="4718304"/>
            <a:ext cx="164592" cy="109728"/>
          </a:xfrm>
          <a:prstGeom prst="downArrow">
            <a:avLst/>
          </a:prstGeom>
          <a:solidFill>
            <a:srgbClr val="667061"/>
          </a:solidFill>
          <a:ln/>
        </p:spPr>
      </p:sp>
      <p:sp>
        <p:nvSpPr>
          <p:cNvPr id="19" name="Shape 17"/>
          <p:cNvSpPr/>
          <p:nvPr/>
        </p:nvSpPr>
        <p:spPr>
          <a:xfrm>
            <a:off x="2880360" y="4846320"/>
            <a:ext cx="6400800" cy="566928"/>
          </a:xfrm>
          <a:prstGeom prst="roundRect">
            <a:avLst>
              <a:gd name="adj" fmla="val 11290"/>
            </a:avLst>
          </a:prstGeom>
          <a:solidFill>
            <a:srgbClr val="34493A"/>
          </a:solidFill>
          <a:ln/>
          <a:effectLst>
            <a:outerShdw sx="100000" sy="100000" kx="0" ky="0" algn="bl" rotWithShape="0" blurRad="76200" dist="25400" dir="5400000">
              <a:srgbClr val="1B241B">
                <a:alpha val="18000"/>
              </a:srgbClr>
            </a:outerShdw>
          </a:effectLst>
        </p:spPr>
      </p:sp>
      <p:sp>
        <p:nvSpPr>
          <p:cNvPr id="20" name="Text 18"/>
          <p:cNvSpPr txBox="1"/>
          <p:nvPr/>
        </p:nvSpPr>
        <p:spPr>
          <a:xfrm>
            <a:off x="3017520" y="4846320"/>
            <a:ext cx="6126480" cy="56692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Product cards render</a:t>
            </a:r>
            <a:endParaRPr lang="en-US" sz="1250" dirty="0"/>
          </a:p>
        </p:txBody>
      </p:sp>
      <p:sp>
        <p:nvSpPr>
          <p:cNvPr id="21" name="Shape 19"/>
          <p:cNvSpPr/>
          <p:nvPr/>
        </p:nvSpPr>
        <p:spPr>
          <a:xfrm>
            <a:off x="548640" y="5486400"/>
            <a:ext cx="11064240" cy="868680"/>
          </a:xfrm>
          <a:prstGeom prst="roundRect">
            <a:avLst>
              <a:gd name="adj" fmla="val 8421"/>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2" name="Shape 20"/>
          <p:cNvSpPr/>
          <p:nvPr/>
        </p:nvSpPr>
        <p:spPr>
          <a:xfrm>
            <a:off x="749808" y="5687568"/>
            <a:ext cx="310896" cy="310896"/>
          </a:xfrm>
          <a:prstGeom prst="ellipse">
            <a:avLst/>
          </a:prstGeom>
          <a:solidFill>
            <a:srgbClr val="34493A"/>
          </a:solidFill>
          <a:ln/>
        </p:spPr>
      </p:sp>
      <p:sp>
        <p:nvSpPr>
          <p:cNvPr id="23" name="Text 21"/>
          <p:cNvSpPr txBox="1"/>
          <p:nvPr/>
        </p:nvSpPr>
        <p:spPr>
          <a:xfrm>
            <a:off x="749808" y="56875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188720" y="565099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Resilience</a:t>
            </a:r>
            <a:endParaRPr lang="en-US" sz="1500" dirty="0"/>
          </a:p>
        </p:txBody>
      </p:sp>
      <p:sp>
        <p:nvSpPr>
          <p:cNvPr id="25" name="Text 23"/>
          <p:cNvSpPr txBox="1"/>
          <p:nvPr/>
        </p:nvSpPr>
        <p:spPr>
          <a:xfrm>
            <a:off x="804672" y="6053328"/>
            <a:ext cx="10552176" cy="13716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A malformed record is skipped with a warning — one bad Airtable field never crashes the whole catalog. On a fetch failure, the browser falls back to its last successfully-cached data before ever showing an error.</a:t>
            </a:r>
            <a:endParaRPr lang="en-US" sz="1150" dirty="0"/>
          </a:p>
        </p:txBody>
      </p:sp>
      <p:sp>
        <p:nvSpPr>
          <p:cNvPr id="26" name="Text 24"/>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21</a:t>
            </a:r>
            <a:endParaRPr lang="en-US" sz="1000" dirty="0"/>
          </a:p>
        </p:txBody>
      </p:sp>
      <p:sp>
        <p:nvSpPr>
          <p:cNvPr id="27" name="Text 2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CUSTOMER EXPERIENCE</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From Published Inventory To Customer-Visible Products</a:t>
            </a:r>
            <a:endParaRPr lang="en-US" sz="3000" dirty="0"/>
          </a:p>
        </p:txBody>
      </p:sp>
      <p:pic>
        <p:nvPicPr>
          <p:cNvPr id="4" name="Image 0" descr="/home/user/Invictahomesupply/assets/hero/hero-living-room-flooring.png">    </p:cNvPr>
          <p:cNvPicPr>
            <a:picLocks noChangeAspect="1"/>
          </p:cNvPicPr>
          <p:nvPr/>
        </p:nvPicPr>
        <p:blipFill>
          <a:blip r:embed="rId1"/>
          <a:srcRect l="0" r="0" t="0" b="0"/>
          <a:stretch/>
        </p:blipFill>
        <p:spPr>
          <a:xfrm>
            <a:off x="548640" y="1234440"/>
            <a:ext cx="5120640" cy="2880360"/>
          </a:xfrm>
          <a:prstGeom prst="rect">
            <a:avLst/>
          </a:prstGeom>
        </p:spPr>
      </p:pic>
      <p:sp>
        <p:nvSpPr>
          <p:cNvPr id="5" name="Shape 2"/>
          <p:cNvSpPr/>
          <p:nvPr/>
        </p:nvSpPr>
        <p:spPr>
          <a:xfrm>
            <a:off x="548640" y="1234440"/>
            <a:ext cx="5120640" cy="2880360"/>
          </a:xfrm>
          <a:prstGeom prst="roundRect">
            <a:avLst>
              <a:gd name="adj" fmla="val 1905"/>
            </a:avLst>
          </a:prstGeom>
          <a:ln w="12700">
            <a:solidFill>
              <a:srgbClr val="D7DDD0"/>
            </a:solidFill>
            <a:prstDash val="solid"/>
          </a:ln>
        </p:spPr>
      </p:sp>
      <p:sp>
        <p:nvSpPr>
          <p:cNvPr id="6" name="Shape 3"/>
          <p:cNvSpPr/>
          <p:nvPr/>
        </p:nvSpPr>
        <p:spPr>
          <a:xfrm>
            <a:off x="6263640" y="1234440"/>
            <a:ext cx="5166360" cy="2880360"/>
          </a:xfrm>
          <a:prstGeom prst="roundRect">
            <a:avLst>
              <a:gd name="adj" fmla="val 254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7" name="Shape 4"/>
          <p:cNvSpPr/>
          <p:nvPr/>
        </p:nvSpPr>
        <p:spPr>
          <a:xfrm>
            <a:off x="6464808" y="1435608"/>
            <a:ext cx="310896" cy="310896"/>
          </a:xfrm>
          <a:prstGeom prst="ellipse">
            <a:avLst/>
          </a:prstGeom>
          <a:solidFill>
            <a:srgbClr val="34493A"/>
          </a:solidFill>
          <a:ln/>
        </p:spPr>
      </p:sp>
      <p:sp>
        <p:nvSpPr>
          <p:cNvPr id="8" name="Text 5"/>
          <p:cNvSpPr txBox="1"/>
          <p:nvPr/>
        </p:nvSpPr>
        <p:spPr>
          <a:xfrm>
            <a:off x="6464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6"/>
          <p:cNvSpPr txBox="1"/>
          <p:nvPr/>
        </p:nvSpPr>
        <p:spPr>
          <a:xfrm>
            <a:off x="6903720" y="1399032"/>
            <a:ext cx="43434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Once a product is Post to Website = true in Airtable...</a:t>
            </a:r>
            <a:endParaRPr lang="en-US" sz="1500" dirty="0"/>
          </a:p>
        </p:txBody>
      </p:sp>
      <p:sp>
        <p:nvSpPr>
          <p:cNvPr id="10" name="Text 7"/>
          <p:cNvSpPr txBox="1"/>
          <p:nvPr/>
        </p:nvSpPr>
        <p:spPr>
          <a:xfrm>
            <a:off x="6519672" y="1801368"/>
            <a:ext cx="4654296" cy="214884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...it becomes eligible to appear on the homepage, the shop grid, category filters, and its own product detail page — through the exact same /api/inventory call traced on the previous slide. No separate publish step exists beyond the Apps Script sync.</a:t>
            </a:r>
            <a:endParaRPr lang="en-US" sz="1150" dirty="0"/>
          </a:p>
          <a:p>
            <a:pPr indent="0" marL="0">
              <a:lnSpc>
                <a:spcPct val="112000"/>
              </a:lnSpc>
              <a:buNone/>
            </a:pPr>
            <a:endParaRPr lang="en-US" sz="1150" dirty="0"/>
          </a:p>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What an individual browser actually sees may lag slightly behind that: the site's 15-minute localStorage cache and the API's 60-second CDN cache (see previous slide) mean a change can take a short time to reach every visitor, not the next request instantly.</a:t>
            </a:r>
            <a:endParaRPr lang="en-US" sz="1150" dirty="0"/>
          </a:p>
        </p:txBody>
      </p:sp>
      <p:sp>
        <p:nvSpPr>
          <p:cNvPr id="11" name="Shape 8"/>
          <p:cNvSpPr/>
          <p:nvPr/>
        </p:nvSpPr>
        <p:spPr>
          <a:xfrm>
            <a:off x="548640" y="4343400"/>
            <a:ext cx="2651760" cy="1051560"/>
          </a:xfrm>
          <a:prstGeom prst="roundRect">
            <a:avLst>
              <a:gd name="adj" fmla="val 6087"/>
            </a:avLst>
          </a:prstGeom>
          <a:solidFill>
            <a:srgbClr val="EEF1EA"/>
          </a:solidFill>
          <a:ln w="12700">
            <a:solidFill>
              <a:srgbClr val="D7DDD0"/>
            </a:solidFill>
            <a:prstDash val="solid"/>
          </a:ln>
        </p:spPr>
      </p:sp>
      <p:sp>
        <p:nvSpPr>
          <p:cNvPr id="12" name="Text 9"/>
          <p:cNvSpPr txBox="1"/>
          <p:nvPr/>
        </p:nvSpPr>
        <p:spPr>
          <a:xfrm>
            <a:off x="658368" y="4416552"/>
            <a:ext cx="2432304" cy="320040"/>
          </a:xfrm>
          <a:prstGeom prst="rect">
            <a:avLst/>
          </a:prstGeom>
          <a:noFill/>
          <a:ln/>
        </p:spPr>
        <p:txBody>
          <a:bodyPr wrap="square" lIns="0" tIns="0" rIns="0" bIns="0" rtlCol="0" anchor="ctr"/>
          <a:lstStyle/>
          <a:p>
            <a:pPr indent="0" marL="0">
              <a:buNone/>
            </a:pPr>
            <a:r>
              <a:rPr lang="en-US" sz="1300" b="1" dirty="0">
                <a:solidFill>
                  <a:srgbClr val="24352A"/>
                </a:solidFill>
                <a:latin typeface="Calibri" pitchFamily="34" charset="0"/>
                <a:ea typeface="Calibri" pitchFamily="34" charset="-122"/>
                <a:cs typeface="Calibri" pitchFamily="34" charset="-120"/>
              </a:rPr>
              <a:t>Homepage</a:t>
            </a:r>
            <a:endParaRPr lang="en-US" sz="1300" dirty="0"/>
          </a:p>
        </p:txBody>
      </p:sp>
      <p:sp>
        <p:nvSpPr>
          <p:cNvPr id="13" name="Text 10"/>
          <p:cNvSpPr txBox="1"/>
          <p:nvPr/>
        </p:nvSpPr>
        <p:spPr>
          <a:xfrm>
            <a:off x="658368" y="4727448"/>
            <a:ext cx="2432304" cy="548640"/>
          </a:xfrm>
          <a:prstGeom prst="rect">
            <a:avLst/>
          </a:prstGeom>
          <a:noFill/>
          <a:ln/>
        </p:spPr>
        <p:txBody>
          <a:bodyPr wrap="square" lIns="0" tIns="0" rIns="0" bIns="0" rtlCol="0" anchor="ctr"/>
          <a:lstStyle/>
          <a:p>
            <a:pPr indent="0" marL="0">
              <a:buNone/>
            </a:pPr>
            <a:r>
              <a:rPr lang="en-US" sz="1050" dirty="0">
                <a:solidFill>
                  <a:srgbClr val="667061"/>
                </a:solidFill>
                <a:latin typeface="Calibri" pitchFamily="34" charset="0"/>
                <a:ea typeface="Calibri" pitchFamily="34" charset="-122"/>
                <a:cs typeface="Calibri" pitchFamily="34" charset="-120"/>
              </a:rPr>
              <a:t>Featured category tiles</a:t>
            </a:r>
            <a:endParaRPr lang="en-US" sz="1050" dirty="0"/>
          </a:p>
        </p:txBody>
      </p:sp>
      <p:sp>
        <p:nvSpPr>
          <p:cNvPr id="14" name="Shape 11"/>
          <p:cNvSpPr/>
          <p:nvPr/>
        </p:nvSpPr>
        <p:spPr>
          <a:xfrm>
            <a:off x="3337560" y="4343400"/>
            <a:ext cx="2651760" cy="1051560"/>
          </a:xfrm>
          <a:prstGeom prst="roundRect">
            <a:avLst>
              <a:gd name="adj" fmla="val 6087"/>
            </a:avLst>
          </a:prstGeom>
          <a:solidFill>
            <a:srgbClr val="EEF1EA"/>
          </a:solidFill>
          <a:ln w="12700">
            <a:solidFill>
              <a:srgbClr val="D7DDD0"/>
            </a:solidFill>
            <a:prstDash val="solid"/>
          </a:ln>
        </p:spPr>
      </p:sp>
      <p:sp>
        <p:nvSpPr>
          <p:cNvPr id="15" name="Text 12"/>
          <p:cNvSpPr txBox="1"/>
          <p:nvPr/>
        </p:nvSpPr>
        <p:spPr>
          <a:xfrm>
            <a:off x="3447288" y="4416552"/>
            <a:ext cx="2432304" cy="320040"/>
          </a:xfrm>
          <a:prstGeom prst="rect">
            <a:avLst/>
          </a:prstGeom>
          <a:noFill/>
          <a:ln/>
        </p:spPr>
        <p:txBody>
          <a:bodyPr wrap="square" lIns="0" tIns="0" rIns="0" bIns="0" rtlCol="0" anchor="ctr"/>
          <a:lstStyle/>
          <a:p>
            <a:pPr indent="0" marL="0">
              <a:buNone/>
            </a:pPr>
            <a:r>
              <a:rPr lang="en-US" sz="1300" b="1" dirty="0">
                <a:solidFill>
                  <a:srgbClr val="24352A"/>
                </a:solidFill>
                <a:latin typeface="Calibri" pitchFamily="34" charset="0"/>
                <a:ea typeface="Calibri" pitchFamily="34" charset="-122"/>
                <a:cs typeface="Calibri" pitchFamily="34" charset="-120"/>
              </a:rPr>
              <a:t>Shop Grid</a:t>
            </a:r>
            <a:endParaRPr lang="en-US" sz="1300" dirty="0"/>
          </a:p>
        </p:txBody>
      </p:sp>
      <p:sp>
        <p:nvSpPr>
          <p:cNvPr id="16" name="Text 13"/>
          <p:cNvSpPr txBox="1"/>
          <p:nvPr/>
        </p:nvSpPr>
        <p:spPr>
          <a:xfrm>
            <a:off x="3447288" y="4727448"/>
            <a:ext cx="2432304" cy="548640"/>
          </a:xfrm>
          <a:prstGeom prst="rect">
            <a:avLst/>
          </a:prstGeom>
          <a:noFill/>
          <a:ln/>
        </p:spPr>
        <p:txBody>
          <a:bodyPr wrap="square" lIns="0" tIns="0" rIns="0" bIns="0" rtlCol="0" anchor="ctr"/>
          <a:lstStyle/>
          <a:p>
            <a:pPr indent="0" marL="0">
              <a:buNone/>
            </a:pPr>
            <a:r>
              <a:rPr lang="en-US" sz="1050" dirty="0">
                <a:solidFill>
                  <a:srgbClr val="667061"/>
                </a:solidFill>
                <a:latin typeface="Calibri" pitchFamily="34" charset="0"/>
                <a:ea typeface="Calibri" pitchFamily="34" charset="-122"/>
                <a:cs typeface="Calibri" pitchFamily="34" charset="-120"/>
              </a:rPr>
              <a:t>Full catalog + filters</a:t>
            </a:r>
            <a:endParaRPr lang="en-US" sz="1050" dirty="0"/>
          </a:p>
        </p:txBody>
      </p:sp>
      <p:sp>
        <p:nvSpPr>
          <p:cNvPr id="17" name="Shape 14"/>
          <p:cNvSpPr/>
          <p:nvPr/>
        </p:nvSpPr>
        <p:spPr>
          <a:xfrm>
            <a:off x="6126480" y="4343400"/>
            <a:ext cx="2651760" cy="1051560"/>
          </a:xfrm>
          <a:prstGeom prst="roundRect">
            <a:avLst>
              <a:gd name="adj" fmla="val 6087"/>
            </a:avLst>
          </a:prstGeom>
          <a:solidFill>
            <a:srgbClr val="EEF1EA"/>
          </a:solidFill>
          <a:ln w="12700">
            <a:solidFill>
              <a:srgbClr val="D7DDD0"/>
            </a:solidFill>
            <a:prstDash val="solid"/>
          </a:ln>
        </p:spPr>
      </p:sp>
      <p:sp>
        <p:nvSpPr>
          <p:cNvPr id="18" name="Text 15"/>
          <p:cNvSpPr txBox="1"/>
          <p:nvPr/>
        </p:nvSpPr>
        <p:spPr>
          <a:xfrm>
            <a:off x="6236208" y="4416552"/>
            <a:ext cx="2432304" cy="320040"/>
          </a:xfrm>
          <a:prstGeom prst="rect">
            <a:avLst/>
          </a:prstGeom>
          <a:noFill/>
          <a:ln/>
        </p:spPr>
        <p:txBody>
          <a:bodyPr wrap="square" lIns="0" tIns="0" rIns="0" bIns="0" rtlCol="0" anchor="ctr"/>
          <a:lstStyle/>
          <a:p>
            <a:pPr indent="0" marL="0">
              <a:buNone/>
            </a:pPr>
            <a:r>
              <a:rPr lang="en-US" sz="1300" b="1" dirty="0">
                <a:solidFill>
                  <a:srgbClr val="24352A"/>
                </a:solidFill>
                <a:latin typeface="Calibri" pitchFamily="34" charset="0"/>
                <a:ea typeface="Calibri" pitchFamily="34" charset="-122"/>
                <a:cs typeface="Calibri" pitchFamily="34" charset="-120"/>
              </a:rPr>
              <a:t>Category Filter</a:t>
            </a:r>
            <a:endParaRPr lang="en-US" sz="1300" dirty="0"/>
          </a:p>
        </p:txBody>
      </p:sp>
      <p:sp>
        <p:nvSpPr>
          <p:cNvPr id="19" name="Text 16"/>
          <p:cNvSpPr txBox="1"/>
          <p:nvPr/>
        </p:nvSpPr>
        <p:spPr>
          <a:xfrm>
            <a:off x="6236208" y="4727448"/>
            <a:ext cx="2432304" cy="548640"/>
          </a:xfrm>
          <a:prstGeom prst="rect">
            <a:avLst/>
          </a:prstGeom>
          <a:noFill/>
          <a:ln/>
        </p:spPr>
        <p:txBody>
          <a:bodyPr wrap="square" lIns="0" tIns="0" rIns="0" bIns="0" rtlCol="0" anchor="ctr"/>
          <a:lstStyle/>
          <a:p>
            <a:pPr indent="0" marL="0">
              <a:buNone/>
            </a:pPr>
            <a:r>
              <a:rPr lang="en-US" sz="1050" dirty="0">
                <a:solidFill>
                  <a:srgbClr val="667061"/>
                </a:solidFill>
                <a:latin typeface="Calibri" pitchFamily="34" charset="0"/>
                <a:ea typeface="Calibri" pitchFamily="34" charset="-122"/>
                <a:cs typeface="Calibri" pitchFamily="34" charset="-120"/>
              </a:rPr>
              <a:t>One of 19 categories</a:t>
            </a:r>
            <a:endParaRPr lang="en-US" sz="1050" dirty="0"/>
          </a:p>
        </p:txBody>
      </p:sp>
      <p:sp>
        <p:nvSpPr>
          <p:cNvPr id="20" name="Shape 17"/>
          <p:cNvSpPr/>
          <p:nvPr/>
        </p:nvSpPr>
        <p:spPr>
          <a:xfrm>
            <a:off x="8915400" y="4343400"/>
            <a:ext cx="2651760" cy="1051560"/>
          </a:xfrm>
          <a:prstGeom prst="roundRect">
            <a:avLst>
              <a:gd name="adj" fmla="val 6087"/>
            </a:avLst>
          </a:prstGeom>
          <a:solidFill>
            <a:srgbClr val="EEF1EA"/>
          </a:solidFill>
          <a:ln w="12700">
            <a:solidFill>
              <a:srgbClr val="D7DDD0"/>
            </a:solidFill>
            <a:prstDash val="solid"/>
          </a:ln>
        </p:spPr>
      </p:sp>
      <p:sp>
        <p:nvSpPr>
          <p:cNvPr id="21" name="Text 18"/>
          <p:cNvSpPr txBox="1"/>
          <p:nvPr/>
        </p:nvSpPr>
        <p:spPr>
          <a:xfrm>
            <a:off x="9025128" y="4416552"/>
            <a:ext cx="2432304" cy="320040"/>
          </a:xfrm>
          <a:prstGeom prst="rect">
            <a:avLst/>
          </a:prstGeom>
          <a:noFill/>
          <a:ln/>
        </p:spPr>
        <p:txBody>
          <a:bodyPr wrap="square" lIns="0" tIns="0" rIns="0" bIns="0" rtlCol="0" anchor="ctr"/>
          <a:lstStyle/>
          <a:p>
            <a:pPr indent="0" marL="0">
              <a:buNone/>
            </a:pPr>
            <a:r>
              <a:rPr lang="en-US" sz="1300" b="1" dirty="0">
                <a:solidFill>
                  <a:srgbClr val="24352A"/>
                </a:solidFill>
                <a:latin typeface="Calibri" pitchFamily="34" charset="0"/>
                <a:ea typeface="Calibri" pitchFamily="34" charset="-122"/>
                <a:cs typeface="Calibri" pitchFamily="34" charset="-120"/>
              </a:rPr>
              <a:t>Product Detail</a:t>
            </a:r>
            <a:endParaRPr lang="en-US" sz="1300" dirty="0"/>
          </a:p>
        </p:txBody>
      </p:sp>
      <p:sp>
        <p:nvSpPr>
          <p:cNvPr id="22" name="Text 19"/>
          <p:cNvSpPr txBox="1"/>
          <p:nvPr/>
        </p:nvSpPr>
        <p:spPr>
          <a:xfrm>
            <a:off x="9025128" y="4727448"/>
            <a:ext cx="2432304" cy="548640"/>
          </a:xfrm>
          <a:prstGeom prst="rect">
            <a:avLst/>
          </a:prstGeom>
          <a:noFill/>
          <a:ln/>
        </p:spPr>
        <p:txBody>
          <a:bodyPr wrap="square" lIns="0" tIns="0" rIns="0" bIns="0" rtlCol="0" anchor="ctr"/>
          <a:lstStyle/>
          <a:p>
            <a:pPr indent="0" marL="0">
              <a:buNone/>
            </a:pPr>
            <a:r>
              <a:rPr lang="en-US" sz="1050" dirty="0">
                <a:solidFill>
                  <a:srgbClr val="667061"/>
                </a:solidFill>
                <a:latin typeface="Calibri" pitchFamily="34" charset="0"/>
                <a:ea typeface="Calibri" pitchFamily="34" charset="-122"/>
                <a:cs typeface="Calibri" pitchFamily="34" charset="-120"/>
              </a:rPr>
              <a:t>/product.html?id=...</a:t>
            </a:r>
            <a:endParaRPr lang="en-US" sz="1050" dirty="0"/>
          </a:p>
        </p:txBody>
      </p:sp>
      <p:sp>
        <p:nvSpPr>
          <p:cNvPr id="23" name="Text 20"/>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22</a:t>
            </a:r>
            <a:endParaRPr lang="en-US" sz="1000" dirty="0"/>
          </a:p>
        </p:txBody>
      </p:sp>
      <p:sp>
        <p:nvSpPr>
          <p:cNvPr id="24" name="Text 21"/>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SEO</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 Detail &amp; SEO Architecture</a:t>
            </a:r>
            <a:endParaRPr lang="en-US" sz="3000" dirty="0"/>
          </a:p>
        </p:txBody>
      </p:sp>
      <p:sp>
        <p:nvSpPr>
          <p:cNvPr id="4" name="Text 2"/>
          <p:cNvSpPr txBox="1"/>
          <p:nvPr/>
        </p:nvSpPr>
        <p:spPr>
          <a:xfrm>
            <a:off x="548640" y="1325880"/>
            <a:ext cx="5212080" cy="411480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34493A"/>
                </a:solidFill>
                <a:latin typeface="Calibri" pitchFamily="34" charset="0"/>
                <a:ea typeface="Calibri" pitchFamily="34" charset="-122"/>
                <a:cs typeface="Calibri" pitchFamily="34" charset="-120"/>
              </a:rPr>
              <a:t>Deep link: /product.html?id=&lt;Product Key&gt;</a:t>
            </a:r>
            <a:endParaRPr lang="en-US" sz="1300" dirty="0"/>
          </a:p>
          <a:p>
            <a:pPr marL="228600" indent="-228600">
              <a:lnSpc>
                <a:spcPct val="115000"/>
              </a:lnSpc>
              <a:spcAft>
                <a:spcPts val="1000"/>
              </a:spcAft>
              <a:buSzPct val="100000"/>
              <a:buChar char="▪"/>
            </a:pPr>
            <a:r>
              <a:rPr lang="en-US" sz="1300" dirty="0">
                <a:solidFill>
                  <a:srgbClr val="34493A"/>
                </a:solidFill>
                <a:latin typeface="Calibri" pitchFamily="34" charset="0"/>
                <a:ea typeface="Calibri" pitchFamily="34" charset="-122"/>
                <a:cs typeface="Calibri" pitchFamily="34" charset="-120"/>
              </a:rPr>
              <a:t>product-meta.ts rewrites &lt;title&gt;, description, canonical, Open Graph &amp; Twitter Card server-side, before the browser or a social crawler sees the page</a:t>
            </a:r>
            <a:endParaRPr lang="en-US" sz="1300" dirty="0"/>
          </a:p>
          <a:p>
            <a:pPr marL="228600" indent="-228600">
              <a:lnSpc>
                <a:spcPct val="115000"/>
              </a:lnSpc>
              <a:spcAft>
                <a:spcPts val="1000"/>
              </a:spcAft>
              <a:buSzPct val="100000"/>
              <a:buChar char="▪"/>
            </a:pPr>
            <a:r>
              <a:rPr lang="en-US" sz="1300" dirty="0">
                <a:solidFill>
                  <a:srgbClr val="34493A"/>
                </a:solidFill>
                <a:latin typeface="Calibri" pitchFamily="34" charset="0"/>
                <a:ea typeface="Calibri" pitchFamily="34" charset="-122"/>
                <a:cs typeface="Calibri" pitchFamily="34" charset="-120"/>
              </a:rPr>
              <a:t>Needed because crawlers don't run the client-side JS that would otherwise update these tags</a:t>
            </a:r>
            <a:endParaRPr lang="en-US" sz="1300" dirty="0"/>
          </a:p>
        </p:txBody>
      </p:sp>
      <p:sp>
        <p:nvSpPr>
          <p:cNvPr id="5" name="Text 3"/>
          <p:cNvSpPr txBox="1"/>
          <p:nvPr/>
        </p:nvSpPr>
        <p:spPr>
          <a:xfrm>
            <a:off x="6309360" y="1325880"/>
            <a:ext cx="5120640" cy="411480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34493A"/>
                </a:solidFill>
                <a:latin typeface="Calibri" pitchFamily="34" charset="0"/>
                <a:ea typeface="Calibri" pitchFamily="34" charset="-122"/>
                <a:cs typeface="Calibri" pitchFamily="34" charset="-120"/>
              </a:rPr>
              <a:t>Canonical URL is always built from the production origin + Product Key — never copied from the request's own host or query string</a:t>
            </a:r>
            <a:endParaRPr lang="en-US" sz="1300" dirty="0"/>
          </a:p>
          <a:p>
            <a:pPr marL="228600" indent="-228600">
              <a:lnSpc>
                <a:spcPct val="115000"/>
              </a:lnSpc>
              <a:spcAft>
                <a:spcPts val="1000"/>
              </a:spcAft>
              <a:buSzPct val="100000"/>
              <a:buChar char="▪"/>
            </a:pPr>
            <a:r>
              <a:rPr lang="en-US" sz="1300" dirty="0">
                <a:solidFill>
                  <a:srgbClr val="34493A"/>
                </a:solidFill>
                <a:latin typeface="Calibri" pitchFamily="34" charset="0"/>
                <a:ea typeface="Calibri" pitchFamily="34" charset="-122"/>
                <a:cs typeface="Calibri" pitchFamily="34" charset="-120"/>
              </a:rPr>
              <a:t>Any failure (missing key, unpublished, Airtable down) falls back to the original page with a safety-net noindex meta tag — never an error page</a:t>
            </a:r>
            <a:endParaRPr lang="en-US" sz="1300" dirty="0"/>
          </a:p>
        </p:txBody>
      </p:sp>
      <p:sp>
        <p:nvSpPr>
          <p:cNvPr id="6" name="Text 4"/>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23</a:t>
            </a:r>
            <a:endParaRPr lang="en-US" sz="1000" dirty="0"/>
          </a:p>
        </p:txBody>
      </p:sp>
      <p:sp>
        <p:nvSpPr>
          <p:cNvPr id="7" name="Text 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DEPLOYMENT</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Production vs. Pre-Production</a:t>
            </a:r>
            <a:endParaRPr lang="en-US" sz="3000" dirty="0"/>
          </a:p>
        </p:txBody>
      </p:sp>
      <p:sp>
        <p:nvSpPr>
          <p:cNvPr id="4" name="Text 2"/>
          <p:cNvSpPr txBox="1"/>
          <p:nvPr/>
        </p:nvSpPr>
        <p:spPr>
          <a:xfrm>
            <a:off x="548640" y="1188720"/>
            <a:ext cx="5120640" cy="274320"/>
          </a:xfrm>
          <a:prstGeom prst="rect">
            <a:avLst/>
          </a:prstGeom>
          <a:noFill/>
          <a:ln/>
        </p:spPr>
        <p:txBody>
          <a:bodyPr wrap="square" lIns="0" tIns="0" rIns="0" bIns="0" rtlCol="0" anchor="ctr"/>
          <a:lstStyle/>
          <a:p>
            <a:pPr indent="0" marL="0">
              <a:buNone/>
            </a:pPr>
            <a:r>
              <a:rPr lang="en-US" sz="1200" b="1" spc="200" kern="0" dirty="0">
                <a:solidFill>
                  <a:srgbClr val="667061"/>
                </a:solidFill>
                <a:latin typeface="Calibri" pitchFamily="34" charset="0"/>
                <a:ea typeface="Calibri" pitchFamily="34" charset="-122"/>
                <a:cs typeface="Calibri" pitchFamily="34" charset="-120"/>
              </a:rPr>
              <a:t>STAGING</a:t>
            </a:r>
            <a:endParaRPr lang="en-US" sz="1200" dirty="0"/>
          </a:p>
        </p:txBody>
      </p:sp>
      <p:sp>
        <p:nvSpPr>
          <p:cNvPr id="5" name="Shape 3"/>
          <p:cNvSpPr/>
          <p:nvPr/>
        </p:nvSpPr>
        <p:spPr>
          <a:xfrm>
            <a:off x="548640" y="1508760"/>
            <a:ext cx="5120640" cy="457200"/>
          </a:xfrm>
          <a:prstGeom prst="roundRect">
            <a:avLst>
              <a:gd name="adj" fmla="val 14000"/>
            </a:avLst>
          </a:prstGeom>
          <a:solidFill>
            <a:srgbClr val="34493A"/>
          </a:solidFill>
          <a:ln/>
          <a:effectLst>
            <a:outerShdw sx="100000" sy="100000" kx="0" ky="0" algn="bl" rotWithShape="0" blurRad="76200" dist="25400" dir="5400000">
              <a:srgbClr val="1B241B">
                <a:alpha val="18000"/>
              </a:srgbClr>
            </a:outerShdw>
          </a:effectLst>
        </p:spPr>
      </p:sp>
      <p:sp>
        <p:nvSpPr>
          <p:cNvPr id="6" name="Text 4"/>
          <p:cNvSpPr txBox="1"/>
          <p:nvPr/>
        </p:nvSpPr>
        <p:spPr>
          <a:xfrm>
            <a:off x="685800" y="1508760"/>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final-pre-production</a:t>
            </a:r>
            <a:endParaRPr lang="en-US" sz="1150" dirty="0"/>
          </a:p>
        </p:txBody>
      </p:sp>
      <p:sp>
        <p:nvSpPr>
          <p:cNvPr id="7" name="Shape 5"/>
          <p:cNvSpPr/>
          <p:nvPr/>
        </p:nvSpPr>
        <p:spPr>
          <a:xfrm>
            <a:off x="3026664" y="1984248"/>
            <a:ext cx="164592" cy="91440"/>
          </a:xfrm>
          <a:prstGeom prst="downArrow">
            <a:avLst/>
          </a:prstGeom>
          <a:solidFill>
            <a:srgbClr val="667061"/>
          </a:solidFill>
          <a:ln/>
        </p:spPr>
      </p:sp>
      <p:sp>
        <p:nvSpPr>
          <p:cNvPr id="8" name="Shape 6"/>
          <p:cNvSpPr/>
          <p:nvPr/>
        </p:nvSpPr>
        <p:spPr>
          <a:xfrm>
            <a:off x="548640" y="2093976"/>
            <a:ext cx="5120640" cy="457200"/>
          </a:xfrm>
          <a:prstGeom prst="roundRect">
            <a:avLst>
              <a:gd name="adj" fmla="val 14000"/>
            </a:avLst>
          </a:prstGeom>
          <a:solidFill>
            <a:srgbClr val="2C5670"/>
          </a:solidFill>
          <a:ln/>
          <a:effectLst>
            <a:outerShdw sx="100000" sy="100000" kx="0" ky="0" algn="bl" rotWithShape="0" blurRad="76200" dist="25400" dir="5400000">
              <a:srgbClr val="1B241B">
                <a:alpha val="18000"/>
              </a:srgbClr>
            </a:outerShdw>
          </a:effectLst>
        </p:spPr>
      </p:sp>
      <p:sp>
        <p:nvSpPr>
          <p:cNvPr id="9" name="Text 7"/>
          <p:cNvSpPr txBox="1"/>
          <p:nvPr/>
        </p:nvSpPr>
        <p:spPr>
          <a:xfrm>
            <a:off x="685800" y="2093976"/>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Netlify staging / branch deploy</a:t>
            </a:r>
            <a:endParaRPr lang="en-US" sz="1150" dirty="0"/>
          </a:p>
        </p:txBody>
      </p:sp>
      <p:sp>
        <p:nvSpPr>
          <p:cNvPr id="10" name="Shape 8"/>
          <p:cNvSpPr/>
          <p:nvPr/>
        </p:nvSpPr>
        <p:spPr>
          <a:xfrm>
            <a:off x="3026664" y="2569464"/>
            <a:ext cx="164592" cy="91440"/>
          </a:xfrm>
          <a:prstGeom prst="downArrow">
            <a:avLst/>
          </a:prstGeom>
          <a:solidFill>
            <a:srgbClr val="667061"/>
          </a:solidFill>
          <a:ln/>
        </p:spPr>
      </p:sp>
      <p:sp>
        <p:nvSpPr>
          <p:cNvPr id="11" name="Shape 9"/>
          <p:cNvSpPr/>
          <p:nvPr/>
        </p:nvSpPr>
        <p:spPr>
          <a:xfrm>
            <a:off x="548640" y="2679192"/>
            <a:ext cx="5120640" cy="457200"/>
          </a:xfrm>
          <a:prstGeom prst="roundRect">
            <a:avLst>
              <a:gd name="adj" fmla="val 14000"/>
            </a:avLst>
          </a:prstGeom>
          <a:solidFill>
            <a:srgbClr val="C14A26"/>
          </a:solidFill>
          <a:ln/>
          <a:effectLst>
            <a:outerShdw sx="100000" sy="100000" kx="0" ky="0" algn="bl" rotWithShape="0" blurRad="76200" dist="25400" dir="5400000">
              <a:srgbClr val="1B241B">
                <a:alpha val="18000"/>
              </a:srgbClr>
            </a:outerShdw>
          </a:effectLst>
        </p:spPr>
      </p:sp>
      <p:sp>
        <p:nvSpPr>
          <p:cNvPr id="12" name="Text 10"/>
          <p:cNvSpPr txBox="1"/>
          <p:nvPr/>
        </p:nvSpPr>
        <p:spPr>
          <a:xfrm>
            <a:off x="685800" y="2679192"/>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noindex, nofollow</a:t>
            </a:r>
            <a:endParaRPr lang="en-US" sz="1150" dirty="0"/>
          </a:p>
        </p:txBody>
      </p:sp>
      <p:sp>
        <p:nvSpPr>
          <p:cNvPr id="13" name="Shape 11"/>
          <p:cNvSpPr/>
          <p:nvPr/>
        </p:nvSpPr>
        <p:spPr>
          <a:xfrm>
            <a:off x="3026664" y="3154680"/>
            <a:ext cx="164592" cy="91440"/>
          </a:xfrm>
          <a:prstGeom prst="downArrow">
            <a:avLst/>
          </a:prstGeom>
          <a:solidFill>
            <a:srgbClr val="667061"/>
          </a:solidFill>
          <a:ln/>
        </p:spPr>
      </p:sp>
      <p:sp>
        <p:nvSpPr>
          <p:cNvPr id="14" name="Shape 12"/>
          <p:cNvSpPr/>
          <p:nvPr/>
        </p:nvSpPr>
        <p:spPr>
          <a:xfrm>
            <a:off x="548640" y="3264408"/>
            <a:ext cx="5120640" cy="457200"/>
          </a:xfrm>
          <a:prstGeom prst="roundRect">
            <a:avLst>
              <a:gd name="adj" fmla="val 14000"/>
            </a:avLst>
          </a:prstGeom>
          <a:solidFill>
            <a:srgbClr val="D9A441"/>
          </a:solidFill>
          <a:ln/>
          <a:effectLst>
            <a:outerShdw sx="100000" sy="100000" kx="0" ky="0" algn="bl" rotWithShape="0" blurRad="76200" dist="25400" dir="5400000">
              <a:srgbClr val="1B241B">
                <a:alpha val="18000"/>
              </a:srgbClr>
            </a:outerShdw>
          </a:effectLst>
        </p:spPr>
      </p:sp>
      <p:sp>
        <p:nvSpPr>
          <p:cNvPr id="15" name="Text 13"/>
          <p:cNvSpPr txBox="1"/>
          <p:nvPr/>
        </p:nvSpPr>
        <p:spPr>
          <a:xfrm>
            <a:off x="685800" y="3264408"/>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manual + automated testing</a:t>
            </a:r>
            <a:endParaRPr lang="en-US" sz="1150" dirty="0"/>
          </a:p>
        </p:txBody>
      </p:sp>
      <p:sp>
        <p:nvSpPr>
          <p:cNvPr id="16" name="Shape 14"/>
          <p:cNvSpPr/>
          <p:nvPr/>
        </p:nvSpPr>
        <p:spPr>
          <a:xfrm>
            <a:off x="3026664" y="3739896"/>
            <a:ext cx="164592" cy="91440"/>
          </a:xfrm>
          <a:prstGeom prst="downArrow">
            <a:avLst/>
          </a:prstGeom>
          <a:solidFill>
            <a:srgbClr val="667061"/>
          </a:solidFill>
          <a:ln/>
        </p:spPr>
      </p:sp>
      <p:sp>
        <p:nvSpPr>
          <p:cNvPr id="17" name="Shape 15"/>
          <p:cNvSpPr/>
          <p:nvPr/>
        </p:nvSpPr>
        <p:spPr>
          <a:xfrm>
            <a:off x="548640" y="3849624"/>
            <a:ext cx="5120640" cy="457200"/>
          </a:xfrm>
          <a:prstGeom prst="roundRect">
            <a:avLst>
              <a:gd name="adj" fmla="val 14000"/>
            </a:avLst>
          </a:prstGeom>
          <a:solidFill>
            <a:srgbClr val="24352A"/>
          </a:solidFill>
          <a:ln/>
          <a:effectLst>
            <a:outerShdw sx="100000" sy="100000" kx="0" ky="0" algn="bl" rotWithShape="0" blurRad="76200" dist="25400" dir="5400000">
              <a:srgbClr val="1B241B">
                <a:alpha val="18000"/>
              </a:srgbClr>
            </a:outerShdw>
          </a:effectLst>
        </p:spPr>
      </p:sp>
      <p:sp>
        <p:nvSpPr>
          <p:cNvPr id="18" name="Text 16"/>
          <p:cNvSpPr txBox="1"/>
          <p:nvPr/>
        </p:nvSpPr>
        <p:spPr>
          <a:xfrm>
            <a:off x="685800" y="3849624"/>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Pull Request → main</a:t>
            </a:r>
            <a:endParaRPr lang="en-US" sz="1150" dirty="0"/>
          </a:p>
        </p:txBody>
      </p:sp>
      <p:sp>
        <p:nvSpPr>
          <p:cNvPr id="19" name="Text 17"/>
          <p:cNvSpPr txBox="1"/>
          <p:nvPr/>
        </p:nvSpPr>
        <p:spPr>
          <a:xfrm>
            <a:off x="6309360" y="1188720"/>
            <a:ext cx="5120640" cy="274320"/>
          </a:xfrm>
          <a:prstGeom prst="rect">
            <a:avLst/>
          </a:prstGeom>
          <a:noFill/>
          <a:ln/>
        </p:spPr>
        <p:txBody>
          <a:bodyPr wrap="square" lIns="0" tIns="0" rIns="0" bIns="0" rtlCol="0" anchor="ctr"/>
          <a:lstStyle/>
          <a:p>
            <a:pPr indent="0" marL="0">
              <a:buNone/>
            </a:pPr>
            <a:r>
              <a:rPr lang="en-US" sz="1200" b="1" spc="200" kern="0" dirty="0">
                <a:solidFill>
                  <a:srgbClr val="667061"/>
                </a:solidFill>
                <a:latin typeface="Calibri" pitchFamily="34" charset="0"/>
                <a:ea typeface="Calibri" pitchFamily="34" charset="-122"/>
                <a:cs typeface="Calibri" pitchFamily="34" charset="-120"/>
              </a:rPr>
              <a:t>PRODUCTION</a:t>
            </a:r>
            <a:endParaRPr lang="en-US" sz="1200" dirty="0"/>
          </a:p>
        </p:txBody>
      </p:sp>
      <p:sp>
        <p:nvSpPr>
          <p:cNvPr id="20" name="Shape 18"/>
          <p:cNvSpPr/>
          <p:nvPr/>
        </p:nvSpPr>
        <p:spPr>
          <a:xfrm>
            <a:off x="6309360" y="1508760"/>
            <a:ext cx="5120640" cy="457200"/>
          </a:xfrm>
          <a:prstGeom prst="roundRect">
            <a:avLst>
              <a:gd name="adj" fmla="val 14000"/>
            </a:avLst>
          </a:prstGeom>
          <a:solidFill>
            <a:srgbClr val="34493A"/>
          </a:solidFill>
          <a:ln/>
          <a:effectLst>
            <a:outerShdw sx="100000" sy="100000" kx="0" ky="0" algn="bl" rotWithShape="0" blurRad="76200" dist="25400" dir="5400000">
              <a:srgbClr val="1B241B">
                <a:alpha val="18000"/>
              </a:srgbClr>
            </a:outerShdw>
          </a:effectLst>
        </p:spPr>
      </p:sp>
      <p:sp>
        <p:nvSpPr>
          <p:cNvPr id="21" name="Text 19"/>
          <p:cNvSpPr txBox="1"/>
          <p:nvPr/>
        </p:nvSpPr>
        <p:spPr>
          <a:xfrm>
            <a:off x="6446520" y="1508760"/>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main</a:t>
            </a:r>
            <a:endParaRPr lang="en-US" sz="1150" dirty="0"/>
          </a:p>
        </p:txBody>
      </p:sp>
      <p:sp>
        <p:nvSpPr>
          <p:cNvPr id="22" name="Shape 20"/>
          <p:cNvSpPr/>
          <p:nvPr/>
        </p:nvSpPr>
        <p:spPr>
          <a:xfrm>
            <a:off x="8787384" y="1984248"/>
            <a:ext cx="164592" cy="91440"/>
          </a:xfrm>
          <a:prstGeom prst="downArrow">
            <a:avLst/>
          </a:prstGeom>
          <a:solidFill>
            <a:srgbClr val="667061"/>
          </a:solidFill>
          <a:ln/>
        </p:spPr>
      </p:sp>
      <p:sp>
        <p:nvSpPr>
          <p:cNvPr id="23" name="Shape 21"/>
          <p:cNvSpPr/>
          <p:nvPr/>
        </p:nvSpPr>
        <p:spPr>
          <a:xfrm>
            <a:off x="6309360" y="2093976"/>
            <a:ext cx="5120640" cy="457200"/>
          </a:xfrm>
          <a:prstGeom prst="roundRect">
            <a:avLst>
              <a:gd name="adj" fmla="val 14000"/>
            </a:avLst>
          </a:prstGeom>
          <a:solidFill>
            <a:srgbClr val="2C5670"/>
          </a:solidFill>
          <a:ln/>
          <a:effectLst>
            <a:outerShdw sx="100000" sy="100000" kx="0" ky="0" algn="bl" rotWithShape="0" blurRad="76200" dist="25400" dir="5400000">
              <a:srgbClr val="1B241B">
                <a:alpha val="18000"/>
              </a:srgbClr>
            </a:outerShdw>
          </a:effectLst>
        </p:spPr>
      </p:sp>
      <p:sp>
        <p:nvSpPr>
          <p:cNvPr id="24" name="Text 22"/>
          <p:cNvSpPr txBox="1"/>
          <p:nvPr/>
        </p:nvSpPr>
        <p:spPr>
          <a:xfrm>
            <a:off x="6446520" y="2093976"/>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invictahomesupply.com</a:t>
            </a:r>
            <a:endParaRPr lang="en-US" sz="1150" dirty="0"/>
          </a:p>
        </p:txBody>
      </p:sp>
      <p:sp>
        <p:nvSpPr>
          <p:cNvPr id="25" name="Shape 23"/>
          <p:cNvSpPr/>
          <p:nvPr/>
        </p:nvSpPr>
        <p:spPr>
          <a:xfrm>
            <a:off x="8787384" y="2569464"/>
            <a:ext cx="164592" cy="91440"/>
          </a:xfrm>
          <a:prstGeom prst="downArrow">
            <a:avLst/>
          </a:prstGeom>
          <a:solidFill>
            <a:srgbClr val="667061"/>
          </a:solidFill>
          <a:ln/>
        </p:spPr>
      </p:sp>
      <p:sp>
        <p:nvSpPr>
          <p:cNvPr id="26" name="Shape 24"/>
          <p:cNvSpPr/>
          <p:nvPr/>
        </p:nvSpPr>
        <p:spPr>
          <a:xfrm>
            <a:off x="6309360" y="2679192"/>
            <a:ext cx="5120640" cy="457200"/>
          </a:xfrm>
          <a:prstGeom prst="roundRect">
            <a:avLst>
              <a:gd name="adj" fmla="val 14000"/>
            </a:avLst>
          </a:prstGeom>
          <a:solidFill>
            <a:srgbClr val="3D7A3D"/>
          </a:solidFill>
          <a:ln/>
          <a:effectLst>
            <a:outerShdw sx="100000" sy="100000" kx="0" ky="0" algn="bl" rotWithShape="0" blurRad="76200" dist="25400" dir="5400000">
              <a:srgbClr val="1B241B">
                <a:alpha val="18000"/>
              </a:srgbClr>
            </a:outerShdw>
          </a:effectLst>
        </p:spPr>
      </p:sp>
      <p:sp>
        <p:nvSpPr>
          <p:cNvPr id="27" name="Text 25"/>
          <p:cNvSpPr txBox="1"/>
          <p:nvPr/>
        </p:nvSpPr>
        <p:spPr>
          <a:xfrm>
            <a:off x="6446520" y="2679192"/>
            <a:ext cx="4846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indexable</a:t>
            </a:r>
            <a:endParaRPr lang="en-US" sz="1150" dirty="0"/>
          </a:p>
        </p:txBody>
      </p:sp>
      <p:sp>
        <p:nvSpPr>
          <p:cNvPr id="28" name="Shape 26"/>
          <p:cNvSpPr/>
          <p:nvPr/>
        </p:nvSpPr>
        <p:spPr>
          <a:xfrm>
            <a:off x="548640" y="4617720"/>
            <a:ext cx="11064240" cy="1280160"/>
          </a:xfrm>
          <a:prstGeom prst="roundRect">
            <a:avLst>
              <a:gd name="adj" fmla="val 5714"/>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9" name="Shape 27"/>
          <p:cNvSpPr/>
          <p:nvPr/>
        </p:nvSpPr>
        <p:spPr>
          <a:xfrm>
            <a:off x="749808" y="4818888"/>
            <a:ext cx="310896" cy="310896"/>
          </a:xfrm>
          <a:prstGeom prst="ellipse">
            <a:avLst/>
          </a:prstGeom>
          <a:solidFill>
            <a:srgbClr val="C14A26"/>
          </a:solidFill>
          <a:ln/>
        </p:spPr>
      </p:sp>
      <p:sp>
        <p:nvSpPr>
          <p:cNvPr id="30" name="Text 28"/>
          <p:cNvSpPr txBox="1"/>
          <p:nvPr/>
        </p:nvSpPr>
        <p:spPr>
          <a:xfrm>
            <a:off x="749808" y="48188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1188720" y="478231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preview-noindex.ts</a:t>
            </a:r>
            <a:endParaRPr lang="en-US" sz="1500" dirty="0"/>
          </a:p>
        </p:txBody>
      </p:sp>
      <p:sp>
        <p:nvSpPr>
          <p:cNvPr id="32" name="Text 30"/>
          <p:cNvSpPr txBox="1"/>
          <p:nvPr/>
        </p:nvSpPr>
        <p:spPr>
          <a:xfrm>
            <a:off x="804672" y="5184648"/>
            <a:ext cx="10552176" cy="54864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Adds X-Robots-Tag: noindex, nofollow to every hostname EXCEPT the two production hostnames — decided purely from the request's own URL, never from a deploy-context variable. This is what actually keeps staging out of Google.</a:t>
            </a:r>
            <a:endParaRPr lang="en-US" sz="1200" dirty="0"/>
          </a:p>
        </p:txBody>
      </p:sp>
      <p:sp>
        <p:nvSpPr>
          <p:cNvPr id="33" name="Text 31"/>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24</a:t>
            </a:r>
            <a:endParaRPr lang="en-US" sz="1000" dirty="0"/>
          </a:p>
        </p:txBody>
      </p:sp>
      <p:sp>
        <p:nvSpPr>
          <p:cNvPr id="34" name="Text 3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QUALITY GATES</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Testing</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26080"/>
                <a:gridCol w="5486400"/>
                <a:gridCol w="2651760"/>
              </a:tblGrid>
              <a:tr h="566928">
                <a:tc>
                  <a:txBody>
                    <a:bodyPr/>
                    <a:lstStyle/>
                    <a:p>
                      <a:pPr indent="0" marL="0">
                        <a:buNone/>
                      </a:pPr>
                      <a:r>
                        <a:rPr lang="en-US" sz="1200" b="1" dirty="0">
                          <a:solidFill>
                            <a:srgbClr val="FFFFFF"/>
                          </a:solidFill>
                        </a:rPr>
                        <a:t>Layer</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What it covers</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Last verified result</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r>
              <a:tr h="566928">
                <a:tc>
                  <a:txBody>
                    <a:bodyPr/>
                    <a:lstStyle/>
                    <a:p>
                      <a:pPr indent="0" marL="0">
                        <a:buNone/>
                      </a:pPr>
                      <a:r>
                        <a:rPr lang="en-US" sz="1150" dirty="0">
                          <a:solidFill>
                            <a:srgbClr val="1B241B"/>
                          </a:solidFill>
                        </a:rPr>
                        <a:t>Unit tests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31 test files, one Node process each, via node test/run-unit-tests.mjs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526 / 526 passed</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B241B"/>
                          </a:solidFill>
                        </a:rPr>
                        <a:t>Playwright E2E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Full user flows against a mocked local server (chromium)</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80 / 80 passed</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66928">
                <a:tc>
                  <a:txBody>
                    <a:bodyPr/>
                    <a:lstStyle/>
                    <a:p>
                      <a:pPr indent="0" marL="0">
                        <a:buNone/>
                      </a:pPr>
                      <a:r>
                        <a:rPr lang="en-US" sz="1150" dirty="0">
                          <a:solidFill>
                            <a:srgbClr val="1B241B"/>
                          </a:solidFill>
                        </a:rPr>
                        <a:t>Manual smoke workflow</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Read-only checks against a real deployed URL you choose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workflow_dispatch only</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B241B"/>
                          </a:solidFill>
                        </a:rPr>
                        <a:t>GitHub Actions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Runs unit + E2E on every push/PR to main and final-pre-production</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pre-merge check</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66928">
                <a:tc>
                  <a:txBody>
                    <a:bodyPr/>
                    <a:lstStyle/>
                    <a:p>
                      <a:pPr indent="0" marL="0">
                        <a:buNone/>
                      </a:pPr>
                      <a:r>
                        <a:rPr lang="en-US" sz="1150" dirty="0">
                          <a:solidFill>
                            <a:srgbClr val="1B241B"/>
                          </a:solidFill>
                        </a:rPr>
                        <a:t>Netlify deploy checks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Deploy-preview / branch-deploy build status on the PR</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pre-merge check</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25</a:t>
            </a:r>
            <a:endParaRPr lang="en-US" sz="1000" dirty="0"/>
          </a:p>
        </p:txBody>
      </p:sp>
      <p:sp>
        <p:nvSpPr>
          <p:cNvPr id="6"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SCHEDULING</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Automation / Triggers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657600"/>
                <a:gridCol w="2743200"/>
                <a:gridCol w="4663440"/>
              </a:tblGrid>
              <a:tr h="548640">
                <a:tc>
                  <a:txBody>
                    <a:bodyPr/>
                    <a:lstStyle/>
                    <a:p>
                      <a:pPr indent="0" marL="0">
                        <a:buNone/>
                      </a:pPr>
                      <a:r>
                        <a:rPr lang="en-US" sz="1200" b="1" dirty="0">
                          <a:solidFill>
                            <a:srgbClr val="FFFFFF"/>
                          </a:solidFill>
                        </a:rPr>
                        <a:t>Trigger</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Documented schedule</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What it does</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r>
              <a:tr h="548640">
                <a:tc>
                  <a:txBody>
                    <a:bodyPr/>
                    <a:lstStyle/>
                    <a:p>
                      <a:pPr indent="0" marL="0">
                        <a:buNone/>
                      </a:pPr>
                      <a:r>
                        <a:rPr lang="en-US" sz="1150" dirty="0">
                          <a:solidFill>
                            <a:srgbClr val="1B241B"/>
                          </a:solidFill>
                        </a:rPr>
                        <a:t>runProductCatalogMaintenance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Every 6 hours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Full catalog maintenance pipeline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B241B"/>
                          </a:solidFill>
                        </a:rPr>
                        <a:t>syncWebsiteExportToAirtable</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Hourly</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150" dirty="0">
                          <a:solidFill>
                            <a:srgbClr val="1B241B"/>
                          </a:solidFill>
                        </a:rPr>
                        <a:t>Publishes eligible products, unpublishes ineligible ones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48640">
                <a:tc>
                  <a:txBody>
                    <a:bodyPr/>
                    <a:lstStyle/>
                    <a:p>
                      <a:pPr indent="0" marL="0">
                        <a:buNone/>
                      </a:pPr>
                      <a:r>
                        <a:rPr lang="en-US" sz="1150" dirty="0">
                          <a:solidFill>
                            <a:srgbClr val="1B241B"/>
                          </a:solidFill>
                        </a:rPr>
                        <a:t>runCatalogEnrichment</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Daily, ~3 AM Central</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150" dirty="0">
                          <a:solidFill>
                            <a:srgbClr val="1B241B"/>
                          </a:solidFill>
                        </a:rPr>
                        <a:t>Gemini-enriches up to 5 catalog rows</a:t>
                      </a:r>
                      <a:endParaRPr lang="en-US" sz="11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383280"/>
            <a:ext cx="11064240" cy="1920240"/>
          </a:xfrm>
          <a:prstGeom prst="roundRect">
            <a:avLst>
              <a:gd name="adj" fmla="val 3810"/>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6" name="Shape 3"/>
          <p:cNvSpPr/>
          <p:nvPr/>
        </p:nvSpPr>
        <p:spPr>
          <a:xfrm>
            <a:off x="749808" y="3584448"/>
            <a:ext cx="310896" cy="310896"/>
          </a:xfrm>
          <a:prstGeom prst="ellipse">
            <a:avLst/>
          </a:prstGeom>
          <a:solidFill>
            <a:srgbClr val="C14A26"/>
          </a:solidFill>
          <a:ln/>
        </p:spPr>
      </p:sp>
      <p:sp>
        <p:nvSpPr>
          <p:cNvPr id="7" name="Text 4"/>
          <p:cNvSpPr txBox="1"/>
          <p:nvPr/>
        </p:nvSpPr>
        <p:spPr>
          <a:xfrm>
            <a:off x="749808" y="35844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5"/>
          <p:cNvSpPr txBox="1"/>
          <p:nvPr/>
        </p:nvSpPr>
        <p:spPr>
          <a:xfrm>
            <a:off x="1188720" y="354787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REQUIRES LIVE APPS SCRIPT VERIFICATION</a:t>
            </a:r>
            <a:endParaRPr lang="en-US" sz="1500" dirty="0"/>
          </a:p>
        </p:txBody>
      </p:sp>
      <p:sp>
        <p:nvSpPr>
          <p:cNvPr id="9" name="Text 6"/>
          <p:cNvSpPr txBox="1"/>
          <p:nvPr/>
        </p:nvSpPr>
        <p:spPr>
          <a:xfrm>
            <a:off x="804672" y="3950208"/>
            <a:ext cx="10552176" cy="118872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These schedules are documented inside Code.js's own architecture comment — they are the intended design, not a live trigger listing. Only the daily enrichment trigger has setup code in this repo (setupCatalogEnrichmentTrigger, which checks for a duplicate before creating one). No equivalent setup code exists here for the other two triggers, so whether they are currently installed, and on exactly this schedule, cannot be confirmed from this repository.</a:t>
            </a:r>
            <a:endParaRPr lang="en-US" sz="1250" dirty="0"/>
          </a:p>
        </p:txBody>
      </p:sp>
      <p:sp>
        <p:nvSpPr>
          <p:cNvPr id="10" name="Text 7"/>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26</a:t>
            </a:r>
            <a:endParaRPr lang="en-US" sz="1000" dirty="0"/>
          </a:p>
        </p:txBody>
      </p:sp>
      <p:sp>
        <p:nvSpPr>
          <p:cNvPr id="11" name="Text 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RESILIENCE</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Failure Scenarios &amp; Protections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0"/>
                <a:gridCol w="6492240"/>
              </a:tblGrid>
              <a:tr h="566928">
                <a:tc>
                  <a:txBody>
                    <a:bodyPr/>
                    <a:lstStyle/>
                    <a:p>
                      <a:pPr indent="0" marL="0">
                        <a:buNone/>
                      </a:pPr>
                      <a:r>
                        <a:rPr lang="en-US" sz="1200" b="1" dirty="0">
                          <a:solidFill>
                            <a:srgbClr val="FFFFFF"/>
                          </a:solidFill>
                        </a:rPr>
                        <a:t>Problem</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c>
                  <a:txBody>
                    <a:bodyPr/>
                    <a:lstStyle/>
                    <a:p>
                      <a:pPr indent="0" marL="0">
                        <a:buNone/>
                      </a:pPr>
                      <a:r>
                        <a:rPr lang="en-US" sz="1200" b="1" dirty="0">
                          <a:solidFill>
                            <a:srgbClr val="FFFFFF"/>
                          </a:solidFill>
                        </a:rPr>
                        <a:t>Protection</a:t>
                      </a:r>
                      <a:endParaRPr lang="en-US" sz="120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24352A"/>
                    </a:solidFill>
                  </a:tcPr>
                </a:tc>
              </a:tr>
              <a:tr h="566928">
                <a:tc>
                  <a:txBody>
                    <a:bodyPr/>
                    <a:lstStyle/>
                    <a:p>
                      <a:pPr indent="0" marL="0">
                        <a:buNone/>
                      </a:pPr>
                      <a:r>
                        <a:rPr lang="en-US" sz="1250" dirty="0">
                          <a:solidFill>
                            <a:srgbClr val="1B241B"/>
                          </a:solidFill>
                        </a:rPr>
                        <a:t>Duplicate Product Key</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250" dirty="0">
                          <a:solidFill>
                            <a:srgbClr val="1B241B"/>
                          </a:solidFill>
                        </a:rPr>
                        <a:t>Identity audit — fails the whole maintenance run loudly</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B241B"/>
                          </a:solidFill>
                        </a:rPr>
                        <a:t>Bad Airtable enum value</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250" dirty="0">
                          <a:solidFill>
                            <a:srgbClr val="1B241B"/>
                          </a:solidFill>
                        </a:rPr>
                        <a:t>That row is rejected and logged; sync continues for everyone else</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66928">
                <a:tc>
                  <a:txBody>
                    <a:bodyPr/>
                    <a:lstStyle/>
                    <a:p>
                      <a:pPr indent="0" marL="0">
                        <a:buNone/>
                      </a:pPr>
                      <a:r>
                        <a:rPr lang="en-US" sz="1250" dirty="0">
                          <a:solidFill>
                            <a:srgbClr val="1B241B"/>
                          </a:solidFill>
                        </a:rPr>
                        <a:t>Gemini uncertain about a product</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250" dirty="0">
                          <a:solidFill>
                            <a:srgbClr val="1B241B"/>
                          </a:solidFill>
                        </a:rPr>
                        <a:t>Marked “Needs Review” — nothing customer-facing is written</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B241B"/>
                          </a:solidFill>
                        </a:rPr>
                        <a:t>Product no longer eligible</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250" dirty="0">
                          <a:solidFill>
                            <a:srgbClr val="1B241B"/>
                          </a:solidFill>
                        </a:rPr>
                        <a:t>Unpublished in Airtable — never deleted</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r h="566928">
                <a:tc>
                  <a:txBody>
                    <a:bodyPr/>
                    <a:lstStyle/>
                    <a:p>
                      <a:pPr indent="0" marL="0">
                        <a:buNone/>
                      </a:pPr>
                      <a:r>
                        <a:rPr lang="en-US" sz="1250" dirty="0">
                          <a:solidFill>
                            <a:srgbClr val="1B241B"/>
                          </a:solidFill>
                        </a:rPr>
                        <a:t>Airtable rate limit / network error</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c>
                  <a:txBody>
                    <a:bodyPr/>
                    <a:lstStyle/>
                    <a:p>
                      <a:pPr indent="0" marL="0">
                        <a:buNone/>
                      </a:pPr>
                      <a:r>
                        <a:rPr lang="en-US" sz="1250" dirty="0">
                          <a:solidFill>
                            <a:srgbClr val="1B241B"/>
                          </a:solidFill>
                        </a:rPr>
                        <a:t>Retry with backoff, up to 5 attempts, Retry-After aware</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B241B"/>
                          </a:solidFill>
                        </a:rPr>
                        <a:t>Preview site accidentally indexed</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c>
                  <a:txBody>
                    <a:bodyPr/>
                    <a:lstStyle/>
                    <a:p>
                      <a:pPr indent="0" marL="0">
                        <a:buNone/>
                      </a:pPr>
                      <a:r>
                        <a:rPr lang="en-US" sz="1250" dirty="0">
                          <a:solidFill>
                            <a:srgbClr val="1B241B"/>
                          </a:solidFill>
                        </a:rPr>
                        <a:t>preview-noindex edge function — noindex on every non-production hostname</a:t>
                      </a:r>
                      <a:endParaRPr lang="en-US" sz="1250" dirty="0"/>
                    </a:p>
                  </a:txBody>
                  <a:tcPr marL="91440" marR="91440" marT="45720" marB="45720" anchor="ctr">
                    <a:lnL w="9525" cap="flat" cmpd="sng" algn="ctr">
                      <a:solidFill>
                        <a:srgbClr val="D7DDD0"/>
                      </a:solidFill>
                      <a:prstDash val="solid"/>
                      <a:round/>
                      <a:headEnd type="none" w="med" len="med"/>
                      <a:tailEnd type="none" w="med" len="med"/>
                    </a:lnL>
                    <a:lnR w="9525" cap="flat" cmpd="sng" algn="ctr">
                      <a:solidFill>
                        <a:srgbClr val="D7DDD0"/>
                      </a:solidFill>
                      <a:prstDash val="solid"/>
                      <a:round/>
                      <a:headEnd type="none" w="med" len="med"/>
                      <a:tailEnd type="none" w="med" len="med"/>
                    </a:lnR>
                    <a:lnT w="9525" cap="flat" cmpd="sng" algn="ctr">
                      <a:solidFill>
                        <a:srgbClr val="D7DDD0"/>
                      </a:solidFill>
                      <a:prstDash val="solid"/>
                      <a:round/>
                      <a:headEnd type="none" w="med" len="med"/>
                      <a:tailEnd type="none" w="med" len="med"/>
                    </a:lnT>
                    <a:lnB w="9525" cap="flat" cmpd="sng" algn="ctr">
                      <a:solidFill>
                        <a:srgbClr val="D7DDD0"/>
                      </a:solidFill>
                      <a:prstDash val="solid"/>
                      <a:round/>
                      <a:headEnd type="none" w="med" len="med"/>
                      <a:tailEnd type="none" w="med" len="med"/>
                    </a:lnB>
                    <a:solidFill>
                      <a:srgbClr val="EEF1EA"/>
                    </a:solidFill>
                  </a:tcPr>
                </a:tc>
              </a:tr>
            </a:tbl>
          </a:graphicData>
        </a:graphic>
      </p:graphicFrame>
      <p:sp>
        <p:nvSpPr>
          <p:cNvPr id="5" name="Text 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27</a:t>
            </a:r>
            <a:endParaRPr lang="en-US" sz="1000" dirty="0"/>
          </a:p>
        </p:txBody>
      </p:sp>
      <p:sp>
        <p:nvSpPr>
          <p:cNvPr id="6"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SECURITY</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Security &amp; Credentials</a:t>
            </a:r>
            <a:endParaRPr lang="en-US" sz="3000" dirty="0"/>
          </a:p>
        </p:txBody>
      </p:sp>
      <p:sp>
        <p:nvSpPr>
          <p:cNvPr id="4" name="Shape 2"/>
          <p:cNvSpPr/>
          <p:nvPr/>
        </p:nvSpPr>
        <p:spPr>
          <a:xfrm>
            <a:off x="548640" y="1234440"/>
            <a:ext cx="3566160" cy="2194560"/>
          </a:xfrm>
          <a:prstGeom prst="roundRect">
            <a:avLst>
              <a:gd name="adj" fmla="val 3333"/>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5" name="Shape 3"/>
          <p:cNvSpPr/>
          <p:nvPr/>
        </p:nvSpPr>
        <p:spPr>
          <a:xfrm>
            <a:off x="749808" y="1435608"/>
            <a:ext cx="310896" cy="310896"/>
          </a:xfrm>
          <a:prstGeom prst="ellipse">
            <a:avLst/>
          </a:prstGeom>
          <a:solidFill>
            <a:srgbClr val="D9A441"/>
          </a:solidFill>
          <a:ln/>
        </p:spPr>
      </p:sp>
      <p:sp>
        <p:nvSpPr>
          <p:cNvPr id="6" name="Text 4"/>
          <p:cNvSpPr txBox="1"/>
          <p:nvPr/>
        </p:nvSpPr>
        <p:spPr>
          <a:xfrm>
            <a:off x="749808"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188720"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Apps Script Script Properties</a:t>
            </a:r>
            <a:endParaRPr lang="en-US" sz="1500" dirty="0"/>
          </a:p>
        </p:txBody>
      </p:sp>
      <p:sp>
        <p:nvSpPr>
          <p:cNvPr id="8" name="Text 6"/>
          <p:cNvSpPr txBox="1"/>
          <p:nvPr/>
        </p:nvSpPr>
        <p:spPr>
          <a:xfrm>
            <a:off x="804672" y="1801368"/>
            <a:ext cx="3054096" cy="146304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GEMINI_API_KEY, AIRTABLE_TOKEN — read only via PropertiesService, never hardcoded.</a:t>
            </a:r>
            <a:endParaRPr lang="en-US" sz="1200" dirty="0"/>
          </a:p>
        </p:txBody>
      </p:sp>
      <p:sp>
        <p:nvSpPr>
          <p:cNvPr id="9" name="Shape 7"/>
          <p:cNvSpPr/>
          <p:nvPr/>
        </p:nvSpPr>
        <p:spPr>
          <a:xfrm>
            <a:off x="4325112" y="1234440"/>
            <a:ext cx="3566160" cy="2194560"/>
          </a:xfrm>
          <a:prstGeom prst="roundRect">
            <a:avLst>
              <a:gd name="adj" fmla="val 3333"/>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0" name="Shape 8"/>
          <p:cNvSpPr/>
          <p:nvPr/>
        </p:nvSpPr>
        <p:spPr>
          <a:xfrm>
            <a:off x="4526280" y="1435608"/>
            <a:ext cx="310896" cy="310896"/>
          </a:xfrm>
          <a:prstGeom prst="ellipse">
            <a:avLst/>
          </a:prstGeom>
          <a:solidFill>
            <a:srgbClr val="2C5670"/>
          </a:solidFill>
          <a:ln/>
        </p:spPr>
      </p:sp>
      <p:sp>
        <p:nvSpPr>
          <p:cNvPr id="11" name="Text 9"/>
          <p:cNvSpPr txBox="1"/>
          <p:nvPr/>
        </p:nvSpPr>
        <p:spPr>
          <a:xfrm>
            <a:off x="4526280"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4965192"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Netlify Environment Variables</a:t>
            </a:r>
            <a:endParaRPr lang="en-US" sz="1500" dirty="0"/>
          </a:p>
        </p:txBody>
      </p:sp>
      <p:sp>
        <p:nvSpPr>
          <p:cNvPr id="13" name="Text 11"/>
          <p:cNvSpPr txBox="1"/>
          <p:nvPr/>
        </p:nvSpPr>
        <p:spPr>
          <a:xfrm>
            <a:off x="4581144" y="1801368"/>
            <a:ext cx="3054096" cy="146304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AIRTABLE_TOKEN, AIRTABLE_BASE_ID, AIRTABLE_SUBSCRIBERS_TOKEN, RESEND_API_KEY, and others — names documented, values never committed.</a:t>
            </a:r>
            <a:endParaRPr lang="en-US" sz="1200" dirty="0"/>
          </a:p>
        </p:txBody>
      </p:sp>
      <p:sp>
        <p:nvSpPr>
          <p:cNvPr id="14" name="Shape 12"/>
          <p:cNvSpPr/>
          <p:nvPr/>
        </p:nvSpPr>
        <p:spPr>
          <a:xfrm>
            <a:off x="8101584" y="1234440"/>
            <a:ext cx="3566160" cy="2194560"/>
          </a:xfrm>
          <a:prstGeom prst="roundRect">
            <a:avLst>
              <a:gd name="adj" fmla="val 3333"/>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15" name="Shape 13"/>
          <p:cNvSpPr/>
          <p:nvPr/>
        </p:nvSpPr>
        <p:spPr>
          <a:xfrm>
            <a:off x="8302752" y="1435608"/>
            <a:ext cx="310896" cy="310896"/>
          </a:xfrm>
          <a:prstGeom prst="ellipse">
            <a:avLst/>
          </a:prstGeom>
          <a:solidFill>
            <a:srgbClr val="34493A"/>
          </a:solidFill>
          <a:ln/>
        </p:spPr>
      </p:sp>
      <p:sp>
        <p:nvSpPr>
          <p:cNvPr id="16" name="Text 14"/>
          <p:cNvSpPr txBox="1"/>
          <p:nvPr/>
        </p:nvSpPr>
        <p:spPr>
          <a:xfrm>
            <a:off x="8302752" y="143560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8741664" y="1399032"/>
            <a:ext cx="274320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GitHub Secrets</a:t>
            </a:r>
            <a:endParaRPr lang="en-US" sz="1500" dirty="0"/>
          </a:p>
        </p:txBody>
      </p:sp>
      <p:sp>
        <p:nvSpPr>
          <p:cNvPr id="18" name="Text 16"/>
          <p:cNvSpPr txBox="1"/>
          <p:nvPr/>
        </p:nvSpPr>
        <p:spPr>
          <a:xfrm>
            <a:off x="8357616" y="1801368"/>
            <a:ext cx="3054096" cy="1463040"/>
          </a:xfrm>
          <a:prstGeom prst="rect">
            <a:avLst/>
          </a:prstGeom>
          <a:noFill/>
          <a:ln/>
        </p:spPr>
        <p:txBody>
          <a:bodyPr wrap="square" lIns="0" tIns="0" rIns="0" bIns="0" rtlCol="0" anchor="t"/>
          <a:lstStyle/>
          <a:p>
            <a:pPr indent="0" marL="0">
              <a:lnSpc>
                <a:spcPct val="112000"/>
              </a:lnSpc>
              <a:buNone/>
            </a:pPr>
            <a:r>
              <a:rPr lang="en-US" sz="1200" dirty="0">
                <a:solidFill>
                  <a:srgbClr val="34493A"/>
                </a:solidFill>
                <a:latin typeface="Calibri" pitchFamily="34" charset="0"/>
                <a:ea typeface="Calibri" pitchFamily="34" charset="-122"/>
                <a:cs typeface="Calibri" pitchFamily="34" charset="-120"/>
              </a:rPr>
              <a:t>Current CI workflows reference no GitHub secrets — both run entirely against public code and mocked fixtures.</a:t>
            </a:r>
            <a:endParaRPr lang="en-US" sz="1200" dirty="0"/>
          </a:p>
        </p:txBody>
      </p:sp>
      <p:sp>
        <p:nvSpPr>
          <p:cNvPr id="19" name="Shape 17"/>
          <p:cNvSpPr/>
          <p:nvPr/>
        </p:nvSpPr>
        <p:spPr>
          <a:xfrm>
            <a:off x="548640" y="3657600"/>
            <a:ext cx="11064240" cy="1508760"/>
          </a:xfrm>
          <a:prstGeom prst="roundRect">
            <a:avLst>
              <a:gd name="adj" fmla="val 4848"/>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20" name="Shape 18"/>
          <p:cNvSpPr/>
          <p:nvPr/>
        </p:nvSpPr>
        <p:spPr>
          <a:xfrm>
            <a:off x="749808" y="3858768"/>
            <a:ext cx="310896" cy="310896"/>
          </a:xfrm>
          <a:prstGeom prst="ellipse">
            <a:avLst/>
          </a:prstGeom>
          <a:solidFill>
            <a:srgbClr val="C14A26"/>
          </a:solidFill>
          <a:ln/>
        </p:spPr>
      </p:sp>
      <p:sp>
        <p:nvSpPr>
          <p:cNvPr id="21" name="Text 19"/>
          <p:cNvSpPr txBox="1"/>
          <p:nvPr/>
        </p:nvSpPr>
        <p:spPr>
          <a:xfrm>
            <a:off x="749808" y="38587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188720" y="3822192"/>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The rule</a:t>
            </a:r>
            <a:endParaRPr lang="en-US" sz="1500" dirty="0"/>
          </a:p>
        </p:txBody>
      </p:sp>
      <p:sp>
        <p:nvSpPr>
          <p:cNvPr id="23" name="Text 21"/>
          <p:cNvSpPr txBox="1"/>
          <p:nvPr/>
        </p:nvSpPr>
        <p:spPr>
          <a:xfrm>
            <a:off x="804672" y="4224528"/>
            <a:ext cx="10552176" cy="777240"/>
          </a:xfrm>
          <a:prstGeom prst="rect">
            <a:avLst/>
          </a:prstGeom>
          <a:noFill/>
          <a:ln/>
        </p:spPr>
        <p:txBody>
          <a:bodyPr wrap="square" lIns="0" tIns="0" rIns="0" bIns="0" rtlCol="0" anchor="t"/>
          <a:lstStyle/>
          <a:p>
            <a:pPr indent="0" marL="0">
              <a:lnSpc>
                <a:spcPct val="112000"/>
              </a:lnSpc>
              <a:buNone/>
            </a:pPr>
            <a:r>
              <a:rPr lang="en-US" sz="1250" dirty="0">
                <a:solidFill>
                  <a:srgbClr val="34493A"/>
                </a:solidFill>
                <a:latin typeface="Calibri" pitchFamily="34" charset="0"/>
                <a:ea typeface="Calibri" pitchFamily="34" charset="-122"/>
                <a:cs typeface="Calibri" pitchFamily="34" charset="-120"/>
              </a:rPr>
              <a:t>Credentials are never committed to Git. This repository's .gitignore already excludes .env / .env.* files, and a direct scan confirms no credential-bearing file is currently tracked. No secret value appears anywhere in this presentation or its companion document.</a:t>
            </a:r>
            <a:endParaRPr lang="en-US" sz="1250" dirty="0"/>
          </a:p>
        </p:txBody>
      </p:sp>
      <p:sp>
        <p:nvSpPr>
          <p:cNvPr id="24" name="Text 2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28</a:t>
            </a:r>
            <a:endParaRPr lang="en-US" sz="1000" dirty="0"/>
          </a:p>
        </p:txBody>
      </p:sp>
      <p:sp>
        <p:nvSpPr>
          <p:cNvPr id="25" name="Text 2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C14A26"/>
                </a:solidFill>
                <a:latin typeface="Calibri" pitchFamily="34" charset="0"/>
                <a:ea typeface="Calibri" pitchFamily="34" charset="-122"/>
                <a:cs typeface="Calibri" pitchFamily="34" charset="-120"/>
              </a:rPr>
              <a:t>MAINTENANCE RULES</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B241B"/>
                </a:solidFill>
                <a:latin typeface="Cambria" pitchFamily="34" charset="0"/>
                <a:ea typeface="Cambria" pitchFamily="34" charset="-122"/>
                <a:cs typeface="Cambria" pitchFamily="34" charset="-120"/>
              </a:rPr>
              <a:t>How To Safely Change The System</a:t>
            </a:r>
            <a:endParaRPr lang="en-US" sz="3000" dirty="0"/>
          </a:p>
        </p:txBody>
      </p:sp>
      <p:sp>
        <p:nvSpPr>
          <p:cNvPr id="4" name="Shape 2"/>
          <p:cNvSpPr/>
          <p:nvPr/>
        </p:nvSpPr>
        <p:spPr>
          <a:xfrm>
            <a:off x="548640" y="1234440"/>
            <a:ext cx="4937760" cy="502920"/>
          </a:xfrm>
          <a:prstGeom prst="roundRect">
            <a:avLst>
              <a:gd name="adj" fmla="val 12727"/>
            </a:avLst>
          </a:prstGeom>
          <a:solidFill>
            <a:srgbClr val="EEF1EA"/>
          </a:solidFill>
          <a:ln w="12700">
            <a:solidFill>
              <a:srgbClr val="D7DDD0"/>
            </a:solidFill>
            <a:prstDash val="solid"/>
          </a:ln>
        </p:spPr>
      </p:sp>
      <p:sp>
        <p:nvSpPr>
          <p:cNvPr id="5" name="Text 3"/>
          <p:cNvSpPr txBox="1"/>
          <p:nvPr/>
        </p:nvSpPr>
        <p:spPr>
          <a:xfrm>
            <a:off x="685800" y="1234440"/>
            <a:ext cx="4663440" cy="502920"/>
          </a:xfrm>
          <a:prstGeom prst="rect">
            <a:avLst/>
          </a:prstGeom>
          <a:noFill/>
          <a:ln/>
        </p:spPr>
        <p:txBody>
          <a:bodyPr wrap="square" lIns="0" tIns="0" rIns="0" bIns="0" rtlCol="0" anchor="ctr"/>
          <a:lstStyle/>
          <a:p>
            <a:pPr indent="0" marL="0">
              <a:buNone/>
            </a:pPr>
            <a:r>
              <a:rPr lang="en-US" sz="1250" b="1" dirty="0">
                <a:solidFill>
                  <a:srgbClr val="24352A"/>
                </a:solidFill>
                <a:latin typeface="Calibri" pitchFamily="34" charset="0"/>
                <a:ea typeface="Calibri" pitchFamily="34" charset="-122"/>
                <a:cs typeface="Calibri" pitchFamily="34" charset="-120"/>
              </a:rPr>
              <a:t>Inventory / data change</a:t>
            </a:r>
            <a:endParaRPr lang="en-US" sz="1250" dirty="0"/>
          </a:p>
        </p:txBody>
      </p:sp>
      <p:sp>
        <p:nvSpPr>
          <p:cNvPr id="6" name="Shape 4"/>
          <p:cNvSpPr/>
          <p:nvPr/>
        </p:nvSpPr>
        <p:spPr>
          <a:xfrm>
            <a:off x="5989320" y="1408176"/>
            <a:ext cx="457200" cy="155448"/>
          </a:xfrm>
          <a:prstGeom prst="rightArrow">
            <a:avLst/>
          </a:prstGeom>
          <a:solidFill>
            <a:srgbClr val="667061"/>
          </a:solidFill>
          <a:ln/>
        </p:spPr>
      </p:sp>
      <p:sp>
        <p:nvSpPr>
          <p:cNvPr id="7" name="Shape 5"/>
          <p:cNvSpPr/>
          <p:nvPr/>
        </p:nvSpPr>
        <p:spPr>
          <a:xfrm>
            <a:off x="6629400" y="1234440"/>
            <a:ext cx="4800600" cy="502920"/>
          </a:xfrm>
          <a:prstGeom prst="roundRect">
            <a:avLst>
              <a:gd name="adj" fmla="val 12727"/>
            </a:avLst>
          </a:prstGeom>
          <a:solidFill>
            <a:srgbClr val="C14A26"/>
          </a:solidFill>
          <a:ln/>
        </p:spPr>
      </p:sp>
      <p:sp>
        <p:nvSpPr>
          <p:cNvPr id="8" name="Text 6"/>
          <p:cNvSpPr txBox="1"/>
          <p:nvPr/>
        </p:nvSpPr>
        <p:spPr>
          <a:xfrm>
            <a:off x="6766560" y="1234440"/>
            <a:ext cx="45720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Sheets / Apps Script path</a:t>
            </a:r>
            <a:endParaRPr lang="en-US" sz="1250" dirty="0"/>
          </a:p>
        </p:txBody>
      </p:sp>
      <p:sp>
        <p:nvSpPr>
          <p:cNvPr id="9" name="Shape 7"/>
          <p:cNvSpPr/>
          <p:nvPr/>
        </p:nvSpPr>
        <p:spPr>
          <a:xfrm>
            <a:off x="548640" y="1856232"/>
            <a:ext cx="4937760" cy="502920"/>
          </a:xfrm>
          <a:prstGeom prst="roundRect">
            <a:avLst>
              <a:gd name="adj" fmla="val 12727"/>
            </a:avLst>
          </a:prstGeom>
          <a:solidFill>
            <a:srgbClr val="EEF1EA"/>
          </a:solidFill>
          <a:ln w="12700">
            <a:solidFill>
              <a:srgbClr val="D7DDD0"/>
            </a:solidFill>
            <a:prstDash val="solid"/>
          </a:ln>
        </p:spPr>
      </p:sp>
      <p:sp>
        <p:nvSpPr>
          <p:cNvPr id="10" name="Text 8"/>
          <p:cNvSpPr txBox="1"/>
          <p:nvPr/>
        </p:nvSpPr>
        <p:spPr>
          <a:xfrm>
            <a:off x="685800" y="1856232"/>
            <a:ext cx="4663440" cy="502920"/>
          </a:xfrm>
          <a:prstGeom prst="rect">
            <a:avLst/>
          </a:prstGeom>
          <a:noFill/>
          <a:ln/>
        </p:spPr>
        <p:txBody>
          <a:bodyPr wrap="square" lIns="0" tIns="0" rIns="0" bIns="0" rtlCol="0" anchor="ctr"/>
          <a:lstStyle/>
          <a:p>
            <a:pPr indent="0" marL="0">
              <a:buNone/>
            </a:pPr>
            <a:r>
              <a:rPr lang="en-US" sz="1250" b="1" dirty="0">
                <a:solidFill>
                  <a:srgbClr val="24352A"/>
                </a:solidFill>
                <a:latin typeface="Calibri" pitchFamily="34" charset="0"/>
                <a:ea typeface="Calibri" pitchFamily="34" charset="-122"/>
                <a:cs typeface="Calibri" pitchFamily="34" charset="-120"/>
              </a:rPr>
              <a:t>Website / UI change</a:t>
            </a:r>
            <a:endParaRPr lang="en-US" sz="1250" dirty="0"/>
          </a:p>
        </p:txBody>
      </p:sp>
      <p:sp>
        <p:nvSpPr>
          <p:cNvPr id="11" name="Shape 9"/>
          <p:cNvSpPr/>
          <p:nvPr/>
        </p:nvSpPr>
        <p:spPr>
          <a:xfrm>
            <a:off x="5989320" y="2029968"/>
            <a:ext cx="457200" cy="155448"/>
          </a:xfrm>
          <a:prstGeom prst="rightArrow">
            <a:avLst/>
          </a:prstGeom>
          <a:solidFill>
            <a:srgbClr val="667061"/>
          </a:solidFill>
          <a:ln/>
        </p:spPr>
      </p:sp>
      <p:sp>
        <p:nvSpPr>
          <p:cNvPr id="12" name="Shape 10"/>
          <p:cNvSpPr/>
          <p:nvPr/>
        </p:nvSpPr>
        <p:spPr>
          <a:xfrm>
            <a:off x="6629400" y="1856232"/>
            <a:ext cx="4800600" cy="502920"/>
          </a:xfrm>
          <a:prstGeom prst="roundRect">
            <a:avLst>
              <a:gd name="adj" fmla="val 12727"/>
            </a:avLst>
          </a:prstGeom>
          <a:solidFill>
            <a:srgbClr val="C14A26"/>
          </a:solidFill>
          <a:ln/>
        </p:spPr>
      </p:sp>
      <p:sp>
        <p:nvSpPr>
          <p:cNvPr id="13" name="Text 11"/>
          <p:cNvSpPr txBox="1"/>
          <p:nvPr/>
        </p:nvSpPr>
        <p:spPr>
          <a:xfrm>
            <a:off x="6766560" y="1856232"/>
            <a:ext cx="45720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final-pre-production first</a:t>
            </a:r>
            <a:endParaRPr lang="en-US" sz="1250" dirty="0"/>
          </a:p>
        </p:txBody>
      </p:sp>
      <p:sp>
        <p:nvSpPr>
          <p:cNvPr id="14" name="Shape 12"/>
          <p:cNvSpPr/>
          <p:nvPr/>
        </p:nvSpPr>
        <p:spPr>
          <a:xfrm>
            <a:off x="548640" y="2478024"/>
            <a:ext cx="4937760" cy="502920"/>
          </a:xfrm>
          <a:prstGeom prst="roundRect">
            <a:avLst>
              <a:gd name="adj" fmla="val 12727"/>
            </a:avLst>
          </a:prstGeom>
          <a:solidFill>
            <a:srgbClr val="EEF1EA"/>
          </a:solidFill>
          <a:ln w="12700">
            <a:solidFill>
              <a:srgbClr val="D7DDD0"/>
            </a:solidFill>
            <a:prstDash val="solid"/>
          </a:ln>
        </p:spPr>
      </p:sp>
      <p:sp>
        <p:nvSpPr>
          <p:cNvPr id="15" name="Text 13"/>
          <p:cNvSpPr txBox="1"/>
          <p:nvPr/>
        </p:nvSpPr>
        <p:spPr>
          <a:xfrm>
            <a:off x="685800" y="2478024"/>
            <a:ext cx="4663440" cy="502920"/>
          </a:xfrm>
          <a:prstGeom prst="rect">
            <a:avLst/>
          </a:prstGeom>
          <a:noFill/>
          <a:ln/>
        </p:spPr>
        <p:txBody>
          <a:bodyPr wrap="square" lIns="0" tIns="0" rIns="0" bIns="0" rtlCol="0" anchor="ctr"/>
          <a:lstStyle/>
          <a:p>
            <a:pPr indent="0" marL="0">
              <a:buNone/>
            </a:pPr>
            <a:r>
              <a:rPr lang="en-US" sz="1250" b="1" dirty="0">
                <a:solidFill>
                  <a:srgbClr val="24352A"/>
                </a:solidFill>
                <a:latin typeface="Calibri" pitchFamily="34" charset="0"/>
                <a:ea typeface="Calibri" pitchFamily="34" charset="-122"/>
                <a:cs typeface="Calibri" pitchFamily="34" charset="-120"/>
              </a:rPr>
              <a:t>Test</a:t>
            </a:r>
            <a:endParaRPr lang="en-US" sz="1250" dirty="0"/>
          </a:p>
        </p:txBody>
      </p:sp>
      <p:sp>
        <p:nvSpPr>
          <p:cNvPr id="16" name="Shape 14"/>
          <p:cNvSpPr/>
          <p:nvPr/>
        </p:nvSpPr>
        <p:spPr>
          <a:xfrm>
            <a:off x="5989320" y="2651760"/>
            <a:ext cx="457200" cy="155448"/>
          </a:xfrm>
          <a:prstGeom prst="rightArrow">
            <a:avLst/>
          </a:prstGeom>
          <a:solidFill>
            <a:srgbClr val="667061"/>
          </a:solidFill>
          <a:ln/>
        </p:spPr>
      </p:sp>
      <p:sp>
        <p:nvSpPr>
          <p:cNvPr id="17" name="Shape 15"/>
          <p:cNvSpPr/>
          <p:nvPr/>
        </p:nvSpPr>
        <p:spPr>
          <a:xfrm>
            <a:off x="6629400" y="2478024"/>
            <a:ext cx="4800600" cy="502920"/>
          </a:xfrm>
          <a:prstGeom prst="roundRect">
            <a:avLst>
              <a:gd name="adj" fmla="val 12727"/>
            </a:avLst>
          </a:prstGeom>
          <a:solidFill>
            <a:srgbClr val="C14A26"/>
          </a:solidFill>
          <a:ln/>
        </p:spPr>
      </p:sp>
      <p:sp>
        <p:nvSpPr>
          <p:cNvPr id="18" name="Text 16"/>
          <p:cNvSpPr txBox="1"/>
          <p:nvPr/>
        </p:nvSpPr>
        <p:spPr>
          <a:xfrm>
            <a:off x="6766560" y="2478024"/>
            <a:ext cx="45720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Netlify staging preview</a:t>
            </a:r>
            <a:endParaRPr lang="en-US" sz="1250" dirty="0"/>
          </a:p>
        </p:txBody>
      </p:sp>
      <p:sp>
        <p:nvSpPr>
          <p:cNvPr id="19" name="Shape 17"/>
          <p:cNvSpPr/>
          <p:nvPr/>
        </p:nvSpPr>
        <p:spPr>
          <a:xfrm>
            <a:off x="548640" y="3099816"/>
            <a:ext cx="4937760" cy="502920"/>
          </a:xfrm>
          <a:prstGeom prst="roundRect">
            <a:avLst>
              <a:gd name="adj" fmla="val 12727"/>
            </a:avLst>
          </a:prstGeom>
          <a:solidFill>
            <a:srgbClr val="EEF1EA"/>
          </a:solidFill>
          <a:ln w="12700">
            <a:solidFill>
              <a:srgbClr val="D7DDD0"/>
            </a:solidFill>
            <a:prstDash val="solid"/>
          </a:ln>
        </p:spPr>
      </p:sp>
      <p:sp>
        <p:nvSpPr>
          <p:cNvPr id="20" name="Text 18"/>
          <p:cNvSpPr txBox="1"/>
          <p:nvPr/>
        </p:nvSpPr>
        <p:spPr>
          <a:xfrm>
            <a:off x="685800" y="3099816"/>
            <a:ext cx="4663440" cy="502920"/>
          </a:xfrm>
          <a:prstGeom prst="rect">
            <a:avLst/>
          </a:prstGeom>
          <a:noFill/>
          <a:ln/>
        </p:spPr>
        <p:txBody>
          <a:bodyPr wrap="square" lIns="0" tIns="0" rIns="0" bIns="0" rtlCol="0" anchor="ctr"/>
          <a:lstStyle/>
          <a:p>
            <a:pPr indent="0" marL="0">
              <a:buNone/>
            </a:pPr>
            <a:r>
              <a:rPr lang="en-US" sz="1250" b="1" dirty="0">
                <a:solidFill>
                  <a:srgbClr val="24352A"/>
                </a:solidFill>
                <a:latin typeface="Calibri" pitchFamily="34" charset="0"/>
                <a:ea typeface="Calibri" pitchFamily="34" charset="-122"/>
                <a:cs typeface="Calibri" pitchFamily="34" charset="-120"/>
              </a:rPr>
              <a:t>Approve</a:t>
            </a:r>
            <a:endParaRPr lang="en-US" sz="1250" dirty="0"/>
          </a:p>
        </p:txBody>
      </p:sp>
      <p:sp>
        <p:nvSpPr>
          <p:cNvPr id="21" name="Shape 19"/>
          <p:cNvSpPr/>
          <p:nvPr/>
        </p:nvSpPr>
        <p:spPr>
          <a:xfrm>
            <a:off x="5989320" y="3273552"/>
            <a:ext cx="457200" cy="155448"/>
          </a:xfrm>
          <a:prstGeom prst="rightArrow">
            <a:avLst/>
          </a:prstGeom>
          <a:solidFill>
            <a:srgbClr val="667061"/>
          </a:solidFill>
          <a:ln/>
        </p:spPr>
      </p:sp>
      <p:sp>
        <p:nvSpPr>
          <p:cNvPr id="22" name="Shape 20"/>
          <p:cNvSpPr/>
          <p:nvPr/>
        </p:nvSpPr>
        <p:spPr>
          <a:xfrm>
            <a:off x="6629400" y="3099816"/>
            <a:ext cx="4800600" cy="502920"/>
          </a:xfrm>
          <a:prstGeom prst="roundRect">
            <a:avLst>
              <a:gd name="adj" fmla="val 12727"/>
            </a:avLst>
          </a:prstGeom>
          <a:solidFill>
            <a:srgbClr val="C14A26"/>
          </a:solidFill>
          <a:ln/>
        </p:spPr>
      </p:sp>
      <p:sp>
        <p:nvSpPr>
          <p:cNvPr id="23" name="Text 21"/>
          <p:cNvSpPr txBox="1"/>
          <p:nvPr/>
        </p:nvSpPr>
        <p:spPr>
          <a:xfrm>
            <a:off x="6766560" y="3099816"/>
            <a:ext cx="45720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Pull Request to main</a:t>
            </a:r>
            <a:endParaRPr lang="en-US" sz="1250" dirty="0"/>
          </a:p>
        </p:txBody>
      </p:sp>
      <p:sp>
        <p:nvSpPr>
          <p:cNvPr id="24" name="Shape 22"/>
          <p:cNvSpPr/>
          <p:nvPr/>
        </p:nvSpPr>
        <p:spPr>
          <a:xfrm>
            <a:off x="548640" y="3721608"/>
            <a:ext cx="4937760" cy="502920"/>
          </a:xfrm>
          <a:prstGeom prst="roundRect">
            <a:avLst>
              <a:gd name="adj" fmla="val 12727"/>
            </a:avLst>
          </a:prstGeom>
          <a:solidFill>
            <a:srgbClr val="EEF1EA"/>
          </a:solidFill>
          <a:ln w="12700">
            <a:solidFill>
              <a:srgbClr val="D7DDD0"/>
            </a:solidFill>
            <a:prstDash val="solid"/>
          </a:ln>
        </p:spPr>
      </p:sp>
      <p:sp>
        <p:nvSpPr>
          <p:cNvPr id="25" name="Text 23"/>
          <p:cNvSpPr txBox="1"/>
          <p:nvPr/>
        </p:nvSpPr>
        <p:spPr>
          <a:xfrm>
            <a:off x="685800" y="3721608"/>
            <a:ext cx="4663440" cy="502920"/>
          </a:xfrm>
          <a:prstGeom prst="rect">
            <a:avLst/>
          </a:prstGeom>
          <a:noFill/>
          <a:ln/>
        </p:spPr>
        <p:txBody>
          <a:bodyPr wrap="square" lIns="0" tIns="0" rIns="0" bIns="0" rtlCol="0" anchor="ctr"/>
          <a:lstStyle/>
          <a:p>
            <a:pPr indent="0" marL="0">
              <a:buNone/>
            </a:pPr>
            <a:r>
              <a:rPr lang="en-US" sz="1250" b="1" dirty="0">
                <a:solidFill>
                  <a:srgbClr val="24352A"/>
                </a:solidFill>
                <a:latin typeface="Calibri" pitchFamily="34" charset="0"/>
                <a:ea typeface="Calibri" pitchFamily="34" charset="-122"/>
                <a:cs typeface="Calibri" pitchFamily="34" charset="-120"/>
              </a:rPr>
              <a:t>Ship</a:t>
            </a:r>
            <a:endParaRPr lang="en-US" sz="1250" dirty="0"/>
          </a:p>
        </p:txBody>
      </p:sp>
      <p:sp>
        <p:nvSpPr>
          <p:cNvPr id="26" name="Shape 24"/>
          <p:cNvSpPr/>
          <p:nvPr/>
        </p:nvSpPr>
        <p:spPr>
          <a:xfrm>
            <a:off x="5989320" y="3895344"/>
            <a:ext cx="457200" cy="155448"/>
          </a:xfrm>
          <a:prstGeom prst="rightArrow">
            <a:avLst/>
          </a:prstGeom>
          <a:solidFill>
            <a:srgbClr val="667061"/>
          </a:solidFill>
          <a:ln/>
        </p:spPr>
      </p:sp>
      <p:sp>
        <p:nvSpPr>
          <p:cNvPr id="27" name="Shape 25"/>
          <p:cNvSpPr/>
          <p:nvPr/>
        </p:nvSpPr>
        <p:spPr>
          <a:xfrm>
            <a:off x="6629400" y="3721608"/>
            <a:ext cx="4800600" cy="502920"/>
          </a:xfrm>
          <a:prstGeom prst="roundRect">
            <a:avLst>
              <a:gd name="adj" fmla="val 12727"/>
            </a:avLst>
          </a:prstGeom>
          <a:solidFill>
            <a:srgbClr val="C14A26"/>
          </a:solidFill>
          <a:ln/>
        </p:spPr>
      </p:sp>
      <p:sp>
        <p:nvSpPr>
          <p:cNvPr id="28" name="Text 26"/>
          <p:cNvSpPr txBox="1"/>
          <p:nvPr/>
        </p:nvSpPr>
        <p:spPr>
          <a:xfrm>
            <a:off x="6766560" y="3721608"/>
            <a:ext cx="45720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Production</a:t>
            </a:r>
            <a:endParaRPr lang="en-US" sz="1250" dirty="0"/>
          </a:p>
        </p:txBody>
      </p:sp>
      <p:sp>
        <p:nvSpPr>
          <p:cNvPr id="29" name="Shape 27"/>
          <p:cNvSpPr/>
          <p:nvPr/>
        </p:nvSpPr>
        <p:spPr>
          <a:xfrm>
            <a:off x="548640" y="4453128"/>
            <a:ext cx="11064240" cy="1234440"/>
          </a:xfrm>
          <a:prstGeom prst="roundRect">
            <a:avLst>
              <a:gd name="adj" fmla="val 5926"/>
            </a:avLst>
          </a:prstGeom>
          <a:solidFill>
            <a:srgbClr val="FFFFFF"/>
          </a:solidFill>
          <a:ln w="12700">
            <a:solidFill>
              <a:srgbClr val="D7DDD0"/>
            </a:solidFill>
            <a:prstDash val="solid"/>
          </a:ln>
          <a:effectLst>
            <a:outerShdw sx="100000" sy="100000" kx="0" ky="0" algn="bl" rotWithShape="0" blurRad="76200" dist="25400" dir="5400000">
              <a:srgbClr val="1B241B">
                <a:alpha val="18000"/>
              </a:srgbClr>
            </a:outerShdw>
          </a:effectLst>
        </p:spPr>
      </p:sp>
      <p:sp>
        <p:nvSpPr>
          <p:cNvPr id="30" name="Shape 28"/>
          <p:cNvSpPr/>
          <p:nvPr/>
        </p:nvSpPr>
        <p:spPr>
          <a:xfrm>
            <a:off x="749808" y="4654296"/>
            <a:ext cx="310896" cy="310896"/>
          </a:xfrm>
          <a:prstGeom prst="ellipse">
            <a:avLst/>
          </a:prstGeom>
          <a:solidFill>
            <a:srgbClr val="24352A"/>
          </a:solidFill>
          <a:ln/>
        </p:spPr>
      </p:sp>
      <p:sp>
        <p:nvSpPr>
          <p:cNvPr id="31" name="Text 29"/>
          <p:cNvSpPr txBox="1"/>
          <p:nvPr/>
        </p:nvSpPr>
        <p:spPr>
          <a:xfrm>
            <a:off x="749808" y="465429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txBox="1"/>
          <p:nvPr/>
        </p:nvSpPr>
        <p:spPr>
          <a:xfrm>
            <a:off x="1188720" y="4617720"/>
            <a:ext cx="10241280" cy="365760"/>
          </a:xfrm>
          <a:prstGeom prst="rect">
            <a:avLst/>
          </a:prstGeom>
          <a:noFill/>
          <a:ln/>
        </p:spPr>
        <p:txBody>
          <a:bodyPr wrap="square" lIns="0" tIns="0" rIns="0" bIns="0" rtlCol="0" anchor="ctr"/>
          <a:lstStyle/>
          <a:p>
            <a:pPr indent="0" marL="0">
              <a:buNone/>
            </a:pPr>
            <a:r>
              <a:rPr lang="en-US" sz="1500" b="1" dirty="0">
                <a:solidFill>
                  <a:srgbClr val="1B241B"/>
                </a:solidFill>
                <a:latin typeface="Calibri" pitchFamily="34" charset="0"/>
                <a:ea typeface="Calibri" pitchFamily="34" charset="-122"/>
                <a:cs typeface="Calibri" pitchFamily="34" charset="-120"/>
              </a:rPr>
              <a:t>Should not be casually edited</a:t>
            </a:r>
            <a:endParaRPr lang="en-US" sz="1500" dirty="0"/>
          </a:p>
        </p:txBody>
      </p:sp>
      <p:sp>
        <p:nvSpPr>
          <p:cNvPr id="33" name="Text 31"/>
          <p:cNvSpPr txBox="1"/>
          <p:nvPr/>
        </p:nvSpPr>
        <p:spPr>
          <a:xfrm>
            <a:off x="804672" y="5020056"/>
            <a:ext cx="10552176" cy="502920"/>
          </a:xfrm>
          <a:prstGeom prst="rect">
            <a:avLst/>
          </a:prstGeom>
          <a:noFill/>
          <a:ln/>
        </p:spPr>
        <p:txBody>
          <a:bodyPr wrap="square" lIns="0" tIns="0" rIns="0" bIns="0" rtlCol="0" anchor="t"/>
          <a:lstStyle/>
          <a:p>
            <a:pPr indent="0" marL="0">
              <a:lnSpc>
                <a:spcPct val="112000"/>
              </a:lnSpc>
              <a:buNone/>
            </a:pPr>
            <a:r>
              <a:rPr lang="en-US" sz="1150" dirty="0">
                <a:solidFill>
                  <a:srgbClr val="34493A"/>
                </a:solidFill>
                <a:latin typeface="Calibri" pitchFamily="34" charset="0"/>
                <a:ea typeface="Calibri" pitchFamily="34" charset="-122"/>
                <a:cs typeface="Calibri" pitchFamily="34" charset="-120"/>
              </a:rPr>
              <a:t>The Apps Script snapshot in this repo (editing it here does not change live behavior) · CATALOG_COLUMNS / INVENTORY_CONFIG (positional column contracts) · WEBSITE_CATEGORY_VALUES (shared by Gemini, the sync, and the website) · preview-noindex.ts's production-hostname list.</a:t>
            </a:r>
            <a:endParaRPr lang="en-US" sz="1150" dirty="0"/>
          </a:p>
        </p:txBody>
      </p:sp>
      <p:sp>
        <p:nvSpPr>
          <p:cNvPr id="34" name="Text 32"/>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29</a:t>
            </a:r>
            <a:endParaRPr lang="en-US" sz="1000" dirty="0"/>
          </a:p>
        </p:txBody>
      </p:sp>
      <p:sp>
        <p:nvSpPr>
          <p:cNvPr id="35" name="Text 3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667061"/>
                </a:solidFill>
                <a:latin typeface="Calibri" pitchFamily="34" charset="0"/>
                <a:ea typeface="Calibri" pitchFamily="34" charset="-122"/>
                <a:cs typeface="Calibri" pitchFamily="34" charset="-120"/>
              </a:rPr>
              <a:t>Invicta Home Supply — System Architecture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4352A"/>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CHEAT SHEET</a:t>
            </a:r>
            <a:endParaRPr lang="en-US" sz="130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If Something Breaks, Where Do I Look?</a:t>
            </a:r>
            <a:endParaRPr lang="en-US" sz="3000" dirty="0"/>
          </a:p>
        </p:txBody>
      </p:sp>
      <p:sp>
        <p:nvSpPr>
          <p:cNvPr id="4" name="Shape 2"/>
          <p:cNvSpPr/>
          <p:nvPr/>
        </p:nvSpPr>
        <p:spPr>
          <a:xfrm>
            <a:off x="548640" y="1234440"/>
            <a:ext cx="1783080" cy="594360"/>
          </a:xfrm>
          <a:prstGeom prst="roundRect">
            <a:avLst>
              <a:gd name="adj" fmla="val 12308"/>
            </a:avLst>
          </a:prstGeom>
          <a:solidFill>
            <a:srgbClr val="24352A"/>
          </a:solidFill>
          <a:ln/>
          <a:effectLst>
            <a:outerShdw sx="100000" sy="100000" kx="0" ky="0" algn="bl" rotWithShape="0" blurRad="76200" dist="25400" dir="5400000">
              <a:srgbClr val="1B241B">
                <a:alpha val="18000"/>
              </a:srgbClr>
            </a:outerShdw>
          </a:effectLst>
        </p:spPr>
      </p:sp>
      <p:sp>
        <p:nvSpPr>
          <p:cNvPr id="5" name="Text 3"/>
          <p:cNvSpPr txBox="1"/>
          <p:nvPr/>
        </p:nvSpPr>
        <p:spPr>
          <a:xfrm>
            <a:off x="603504"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Sheets</a:t>
            </a:r>
            <a:endParaRPr lang="en-US" sz="1100" dirty="0"/>
          </a:p>
        </p:txBody>
      </p:sp>
      <p:sp>
        <p:nvSpPr>
          <p:cNvPr id="6" name="Shape 4"/>
          <p:cNvSpPr/>
          <p:nvPr/>
        </p:nvSpPr>
        <p:spPr>
          <a:xfrm>
            <a:off x="2331720" y="1449324"/>
            <a:ext cx="118872" cy="164592"/>
          </a:xfrm>
          <a:prstGeom prst="rightArrow">
            <a:avLst/>
          </a:prstGeom>
          <a:solidFill>
            <a:srgbClr val="667061"/>
          </a:solidFill>
          <a:ln/>
        </p:spPr>
      </p:sp>
      <p:sp>
        <p:nvSpPr>
          <p:cNvPr id="7" name="Shape 5"/>
          <p:cNvSpPr/>
          <p:nvPr/>
        </p:nvSpPr>
        <p:spPr>
          <a:xfrm>
            <a:off x="2450592" y="1234440"/>
            <a:ext cx="1783080" cy="594360"/>
          </a:xfrm>
          <a:prstGeom prst="roundRect">
            <a:avLst>
              <a:gd name="adj" fmla="val 12308"/>
            </a:avLst>
          </a:prstGeom>
          <a:solidFill>
            <a:srgbClr val="D9A441"/>
          </a:solidFill>
          <a:ln/>
          <a:effectLst>
            <a:outerShdw sx="100000" sy="100000" kx="0" ky="0" algn="bl" rotWithShape="0" blurRad="76200" dist="25400" dir="5400000">
              <a:srgbClr val="1B241B">
                <a:alpha val="18000"/>
              </a:srgbClr>
            </a:outerShdw>
          </a:effectLst>
        </p:spPr>
      </p:sp>
      <p:sp>
        <p:nvSpPr>
          <p:cNvPr id="8" name="Text 6"/>
          <p:cNvSpPr txBox="1"/>
          <p:nvPr/>
        </p:nvSpPr>
        <p:spPr>
          <a:xfrm>
            <a:off x="2505456"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9" name="Shape 7"/>
          <p:cNvSpPr/>
          <p:nvPr/>
        </p:nvSpPr>
        <p:spPr>
          <a:xfrm>
            <a:off x="4233672" y="1449324"/>
            <a:ext cx="118872" cy="164592"/>
          </a:xfrm>
          <a:prstGeom prst="rightArrow">
            <a:avLst/>
          </a:prstGeom>
          <a:solidFill>
            <a:srgbClr val="667061"/>
          </a:solidFill>
          <a:ln/>
        </p:spPr>
      </p:sp>
      <p:sp>
        <p:nvSpPr>
          <p:cNvPr id="10" name="Shape 8"/>
          <p:cNvSpPr/>
          <p:nvPr/>
        </p:nvSpPr>
        <p:spPr>
          <a:xfrm>
            <a:off x="4352544" y="1234440"/>
            <a:ext cx="1783080" cy="594360"/>
          </a:xfrm>
          <a:prstGeom prst="roundRect">
            <a:avLst>
              <a:gd name="adj" fmla="val 12308"/>
            </a:avLst>
          </a:prstGeom>
          <a:solidFill>
            <a:srgbClr val="C14A26"/>
          </a:solidFill>
          <a:ln/>
          <a:effectLst>
            <a:outerShdw sx="100000" sy="100000" kx="0" ky="0" algn="bl" rotWithShape="0" blurRad="76200" dist="25400" dir="5400000">
              <a:srgbClr val="1B241B">
                <a:alpha val="18000"/>
              </a:srgbClr>
            </a:outerShdw>
          </a:effectLst>
        </p:spPr>
      </p:sp>
      <p:sp>
        <p:nvSpPr>
          <p:cNvPr id="11" name="Text 9"/>
          <p:cNvSpPr txBox="1"/>
          <p:nvPr/>
        </p:nvSpPr>
        <p:spPr>
          <a:xfrm>
            <a:off x="4407408"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Airtable</a:t>
            </a:r>
            <a:endParaRPr lang="en-US" sz="1100" dirty="0"/>
          </a:p>
        </p:txBody>
      </p:sp>
      <p:sp>
        <p:nvSpPr>
          <p:cNvPr id="12" name="Shape 10"/>
          <p:cNvSpPr/>
          <p:nvPr/>
        </p:nvSpPr>
        <p:spPr>
          <a:xfrm>
            <a:off x="6135624" y="1449324"/>
            <a:ext cx="118872" cy="164592"/>
          </a:xfrm>
          <a:prstGeom prst="rightArrow">
            <a:avLst/>
          </a:prstGeom>
          <a:solidFill>
            <a:srgbClr val="667061"/>
          </a:solidFill>
          <a:ln/>
        </p:spPr>
      </p:sp>
      <p:sp>
        <p:nvSpPr>
          <p:cNvPr id="13" name="Shape 11"/>
          <p:cNvSpPr/>
          <p:nvPr/>
        </p:nvSpPr>
        <p:spPr>
          <a:xfrm>
            <a:off x="6254496" y="1234440"/>
            <a:ext cx="1783080" cy="594360"/>
          </a:xfrm>
          <a:prstGeom prst="roundRect">
            <a:avLst>
              <a:gd name="adj" fmla="val 12308"/>
            </a:avLst>
          </a:prstGeom>
          <a:solidFill>
            <a:srgbClr val="2C5670"/>
          </a:solidFill>
          <a:ln/>
          <a:effectLst>
            <a:outerShdw sx="100000" sy="100000" kx="0" ky="0" algn="bl" rotWithShape="0" blurRad="76200" dist="25400" dir="5400000">
              <a:srgbClr val="1B241B">
                <a:alpha val="18000"/>
              </a:srgbClr>
            </a:outerShdw>
          </a:effectLst>
        </p:spPr>
      </p:sp>
      <p:sp>
        <p:nvSpPr>
          <p:cNvPr id="14" name="Text 12"/>
          <p:cNvSpPr txBox="1"/>
          <p:nvPr/>
        </p:nvSpPr>
        <p:spPr>
          <a:xfrm>
            <a:off x="6309360"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Netlify</a:t>
            </a:r>
            <a:endParaRPr lang="en-US" sz="1100" dirty="0"/>
          </a:p>
        </p:txBody>
      </p:sp>
      <p:sp>
        <p:nvSpPr>
          <p:cNvPr id="15" name="Shape 13"/>
          <p:cNvSpPr/>
          <p:nvPr/>
        </p:nvSpPr>
        <p:spPr>
          <a:xfrm>
            <a:off x="8037576" y="1449324"/>
            <a:ext cx="118872" cy="164592"/>
          </a:xfrm>
          <a:prstGeom prst="rightArrow">
            <a:avLst/>
          </a:prstGeom>
          <a:solidFill>
            <a:srgbClr val="667061"/>
          </a:solidFill>
          <a:ln/>
        </p:spPr>
      </p:sp>
      <p:sp>
        <p:nvSpPr>
          <p:cNvPr id="16" name="Shape 14"/>
          <p:cNvSpPr/>
          <p:nvPr/>
        </p:nvSpPr>
        <p:spPr>
          <a:xfrm>
            <a:off x="8156448" y="1234440"/>
            <a:ext cx="1783080" cy="594360"/>
          </a:xfrm>
          <a:prstGeom prst="roundRect">
            <a:avLst>
              <a:gd name="adj" fmla="val 12308"/>
            </a:avLst>
          </a:prstGeom>
          <a:solidFill>
            <a:srgbClr val="34493A"/>
          </a:solidFill>
          <a:ln/>
          <a:effectLst>
            <a:outerShdw sx="100000" sy="100000" kx="0" ky="0" algn="bl" rotWithShape="0" blurRad="76200" dist="25400" dir="5400000">
              <a:srgbClr val="1B241B">
                <a:alpha val="18000"/>
              </a:srgbClr>
            </a:outerShdw>
          </a:effectLst>
        </p:spPr>
      </p:sp>
      <p:sp>
        <p:nvSpPr>
          <p:cNvPr id="17" name="Text 15"/>
          <p:cNvSpPr txBox="1"/>
          <p:nvPr/>
        </p:nvSpPr>
        <p:spPr>
          <a:xfrm>
            <a:off x="8211312"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a:t>
            </a:r>
            <a:endParaRPr lang="en-US" sz="1100" dirty="0"/>
          </a:p>
        </p:txBody>
      </p:sp>
      <p:sp>
        <p:nvSpPr>
          <p:cNvPr id="18" name="Shape 16"/>
          <p:cNvSpPr/>
          <p:nvPr/>
        </p:nvSpPr>
        <p:spPr>
          <a:xfrm>
            <a:off x="9939528" y="1449324"/>
            <a:ext cx="118872" cy="164592"/>
          </a:xfrm>
          <a:prstGeom prst="rightArrow">
            <a:avLst/>
          </a:prstGeom>
          <a:solidFill>
            <a:srgbClr val="667061"/>
          </a:solidFill>
          <a:ln/>
        </p:spPr>
      </p:sp>
      <p:sp>
        <p:nvSpPr>
          <p:cNvPr id="19" name="Shape 17"/>
          <p:cNvSpPr/>
          <p:nvPr/>
        </p:nvSpPr>
        <p:spPr>
          <a:xfrm>
            <a:off x="10058400" y="1234440"/>
            <a:ext cx="1783080" cy="594360"/>
          </a:xfrm>
          <a:prstGeom prst="roundRect">
            <a:avLst>
              <a:gd name="adj" fmla="val 12308"/>
            </a:avLst>
          </a:prstGeom>
          <a:solidFill>
            <a:srgbClr val="4A4A4A"/>
          </a:solidFill>
          <a:ln/>
          <a:effectLst>
            <a:outerShdw sx="100000" sy="100000" kx="0" ky="0" algn="bl" rotWithShape="0" blurRad="76200" dist="25400" dir="5400000">
              <a:srgbClr val="1B241B">
                <a:alpha val="18000"/>
              </a:srgbClr>
            </a:outerShdw>
          </a:effectLst>
        </p:spPr>
      </p:sp>
      <p:sp>
        <p:nvSpPr>
          <p:cNvPr id="20" name="Text 18"/>
          <p:cNvSpPr txBox="1"/>
          <p:nvPr/>
        </p:nvSpPr>
        <p:spPr>
          <a:xfrm>
            <a:off x="10113264" y="1234440"/>
            <a:ext cx="1673352" cy="5943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21" name="Text 19"/>
          <p:cNvSpPr txBox="1"/>
          <p:nvPr/>
        </p:nvSpPr>
        <p:spPr>
          <a:xfrm>
            <a:off x="548640" y="2240280"/>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Inventory wrong</a:t>
            </a:r>
            <a:endParaRPr lang="en-US" sz="1300" dirty="0"/>
          </a:p>
        </p:txBody>
      </p:sp>
      <p:sp>
        <p:nvSpPr>
          <p:cNvPr id="22" name="Text 20"/>
          <p:cNvSpPr txBox="1"/>
          <p:nvPr/>
        </p:nvSpPr>
        <p:spPr>
          <a:xfrm>
            <a:off x="4572000" y="2240280"/>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Google Sheets</a:t>
            </a:r>
            <a:endParaRPr lang="en-US" sz="1300" dirty="0"/>
          </a:p>
        </p:txBody>
      </p:sp>
      <p:sp>
        <p:nvSpPr>
          <p:cNvPr id="23" name="Text 21"/>
          <p:cNvSpPr txBox="1"/>
          <p:nvPr/>
        </p:nvSpPr>
        <p:spPr>
          <a:xfrm>
            <a:off x="548640" y="2642616"/>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Catalog duplicate</a:t>
            </a:r>
            <a:endParaRPr lang="en-US" sz="1300" dirty="0"/>
          </a:p>
        </p:txBody>
      </p:sp>
      <p:sp>
        <p:nvSpPr>
          <p:cNvPr id="24" name="Text 22"/>
          <p:cNvSpPr txBox="1"/>
          <p:nvPr/>
        </p:nvSpPr>
        <p:spPr>
          <a:xfrm>
            <a:off x="4572000" y="2642616"/>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Maintenance / identity audit</a:t>
            </a:r>
            <a:endParaRPr lang="en-US" sz="1300" dirty="0"/>
          </a:p>
        </p:txBody>
      </p:sp>
      <p:sp>
        <p:nvSpPr>
          <p:cNvPr id="25" name="Text 23"/>
          <p:cNvSpPr txBox="1"/>
          <p:nvPr/>
        </p:nvSpPr>
        <p:spPr>
          <a:xfrm>
            <a:off x="548640" y="3044952"/>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Enrichment wrong</a:t>
            </a:r>
            <a:endParaRPr lang="en-US" sz="1300" dirty="0"/>
          </a:p>
        </p:txBody>
      </p:sp>
      <p:sp>
        <p:nvSpPr>
          <p:cNvPr id="26" name="Text 24"/>
          <p:cNvSpPr txBox="1"/>
          <p:nvPr/>
        </p:nvSpPr>
        <p:spPr>
          <a:xfrm>
            <a:off x="4572000" y="3044952"/>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CatalogEnrichment.js</a:t>
            </a:r>
            <a:endParaRPr lang="en-US" sz="1300" dirty="0"/>
          </a:p>
        </p:txBody>
      </p:sp>
      <p:sp>
        <p:nvSpPr>
          <p:cNvPr id="27" name="Text 25"/>
          <p:cNvSpPr txBox="1"/>
          <p:nvPr/>
        </p:nvSpPr>
        <p:spPr>
          <a:xfrm>
            <a:off x="548640" y="3447288"/>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Airtable mismatch</a:t>
            </a:r>
            <a:endParaRPr lang="en-US" sz="1300" dirty="0"/>
          </a:p>
        </p:txBody>
      </p:sp>
      <p:sp>
        <p:nvSpPr>
          <p:cNvPr id="28" name="Text 26"/>
          <p:cNvSpPr txBox="1"/>
          <p:nvPr/>
        </p:nvSpPr>
        <p:spPr>
          <a:xfrm>
            <a:off x="4572000" y="3447288"/>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WebsiteAirtableSync.js</a:t>
            </a:r>
            <a:endParaRPr lang="en-US" sz="1300" dirty="0"/>
          </a:p>
        </p:txBody>
      </p:sp>
      <p:sp>
        <p:nvSpPr>
          <p:cNvPr id="29" name="Text 27"/>
          <p:cNvSpPr txBox="1"/>
          <p:nvPr/>
        </p:nvSpPr>
        <p:spPr>
          <a:xfrm>
            <a:off x="548640" y="3849624"/>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API problem</a:t>
            </a:r>
            <a:endParaRPr lang="en-US" sz="1300" dirty="0"/>
          </a:p>
        </p:txBody>
      </p:sp>
      <p:sp>
        <p:nvSpPr>
          <p:cNvPr id="30" name="Text 28"/>
          <p:cNvSpPr txBox="1"/>
          <p:nvPr/>
        </p:nvSpPr>
        <p:spPr>
          <a:xfrm>
            <a:off x="4572000" y="3849624"/>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Netlify inventory function</a:t>
            </a:r>
            <a:endParaRPr lang="en-US" sz="1300" dirty="0"/>
          </a:p>
        </p:txBody>
      </p:sp>
      <p:sp>
        <p:nvSpPr>
          <p:cNvPr id="31" name="Text 29"/>
          <p:cNvSpPr txBox="1"/>
          <p:nvPr/>
        </p:nvSpPr>
        <p:spPr>
          <a:xfrm>
            <a:off x="548640" y="4251960"/>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UI problem</a:t>
            </a:r>
            <a:endParaRPr lang="en-US" sz="1300" dirty="0"/>
          </a:p>
        </p:txBody>
      </p:sp>
      <p:sp>
        <p:nvSpPr>
          <p:cNvPr id="32" name="Text 30"/>
          <p:cNvSpPr txBox="1"/>
          <p:nvPr/>
        </p:nvSpPr>
        <p:spPr>
          <a:xfrm>
            <a:off x="4572000" y="4251960"/>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Website code (inventory.js / app.js)</a:t>
            </a:r>
            <a:endParaRPr lang="en-US" sz="1300" dirty="0"/>
          </a:p>
        </p:txBody>
      </p:sp>
      <p:sp>
        <p:nvSpPr>
          <p:cNvPr id="33" name="Text 31"/>
          <p:cNvSpPr txBox="1"/>
          <p:nvPr/>
        </p:nvSpPr>
        <p:spPr>
          <a:xfrm>
            <a:off x="548640" y="4654296"/>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problem</a:t>
            </a:r>
            <a:endParaRPr lang="en-US" sz="1300" dirty="0"/>
          </a:p>
        </p:txBody>
      </p:sp>
      <p:sp>
        <p:nvSpPr>
          <p:cNvPr id="34" name="Text 32"/>
          <p:cNvSpPr txBox="1"/>
          <p:nvPr/>
        </p:nvSpPr>
        <p:spPr>
          <a:xfrm>
            <a:off x="4572000" y="4654296"/>
            <a:ext cx="6949440" cy="365760"/>
          </a:xfrm>
          <a:prstGeom prst="rect">
            <a:avLst/>
          </a:prstGeom>
          <a:noFill/>
          <a:ln/>
        </p:spPr>
        <p:txBody>
          <a:bodyPr wrap="square" lIns="0" tIns="0" rIns="0" bIns="0" rtlCol="0" anchor="ctr"/>
          <a:lstStyle/>
          <a:p>
            <a:pPr indent="0" marL="0">
              <a:buNone/>
            </a:pPr>
            <a:r>
              <a:rPr lang="en-US" sz="1300" dirty="0">
                <a:solidFill>
                  <a:srgbClr val="E2E8DA"/>
                </a:solidFill>
                <a:latin typeface="Calibri" pitchFamily="34" charset="0"/>
                <a:ea typeface="Calibri" pitchFamily="34" charset="-122"/>
                <a:cs typeface="Calibri" pitchFamily="34" charset="-120"/>
              </a:rPr>
              <a:t>→  GitHub Actions / Netlify</a:t>
            </a:r>
            <a:endParaRPr lang="en-US" sz="1300" dirty="0"/>
          </a:p>
        </p:txBody>
      </p:sp>
      <p:sp>
        <p:nvSpPr>
          <p:cNvPr id="35" name="Text 33"/>
          <p:cNvSpPr txBox="1"/>
          <p:nvPr/>
        </p:nvSpPr>
        <p:spPr>
          <a:xfrm>
            <a:off x="11612880" y="6510528"/>
            <a:ext cx="457200" cy="274320"/>
          </a:xfrm>
          <a:prstGeom prst="rect">
            <a:avLst/>
          </a:prstGeom>
          <a:noFill/>
          <a:ln/>
        </p:spPr>
        <p:txBody>
          <a:bodyPr wrap="square" lIns="0" tIns="0" rIns="0" bIns="0" rtlCol="0" anchor="ctr"/>
          <a:lstStyle/>
          <a:p>
            <a:pPr algn="r" indent="0" marL="0">
              <a:buNone/>
            </a:pPr>
            <a:r>
              <a:rPr lang="en-US" sz="1000" dirty="0">
                <a:solidFill>
                  <a:srgbClr val="667061"/>
                </a:solidFill>
                <a:latin typeface="Calibri" pitchFamily="34" charset="0"/>
                <a:ea typeface="Calibri" pitchFamily="34" charset="-122"/>
                <a:cs typeface="Calibri" pitchFamily="34" charset="-120"/>
              </a:rPr>
              <a:t>30</a:t>
            </a:r>
            <a:endParaRPr lang="en-US" sz="1000" dirty="0"/>
          </a:p>
        </p:txBody>
      </p:sp>
      <p:sp>
        <p:nvSpPr>
          <p:cNvPr id="36" name="Text 3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E2E8DA"/>
                </a:solidFill>
                <a:latin typeface="Calibri" pitchFamily="34" charset="0"/>
                <a:ea typeface="Calibri" pitchFamily="34" charset="-122"/>
                <a:cs typeface="Calibri" pitchFamily="34" charset="-120"/>
              </a:rPr>
              <a:t>Companion document: Invicta-Home-Supply-System-Architecture.md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Invicta Home Supply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Invicta Home Supply — End-to-End System Architecture</dc:title>
  <dc:subject>PptxGenJS Presentation</dc:subject>
  <dc:creator>Invicta Home Supply</dc:creator>
  <cp:lastModifiedBy>Invicta Home Supply</cp:lastModifiedBy>
  <cp:revision>1</cp:revision>
  <dcterms:created xsi:type="dcterms:W3CDTF">2026-09-11T02:05:36Z</dcterms:created>
  <dcterms:modified xsi:type="dcterms:W3CDTF">2026-09-11T02:05:36Z</dcterms:modified>
</cp:coreProperties>
</file>